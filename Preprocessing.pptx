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Open Sauce" charset="1" panose="00000500000000000000"/>
      <p:regular r:id="rId28"/>
    </p:embeddedFont>
    <p:embeddedFont>
      <p:font typeface="Bricolage Grotesque Medium" charset="1" panose="020B0605040402000204"/>
      <p:regular r:id="rId29"/>
    </p:embeddedFont>
    <p:embeddedFont>
      <p:font typeface="Open Sauce Bold" charset="1" panose="00000800000000000000"/>
      <p:regular r:id="rId30"/>
    </p:embeddedFont>
    <p:embeddedFont>
      <p:font typeface="Bricolage Grotesque" charset="1" panose="020B0605040402000204"/>
      <p:regular r:id="rId31"/>
    </p:embeddedFont>
    <p:embeddedFont>
      <p:font typeface="Canva Sans" charset="1" panose="020B0503030501040103"/>
      <p:regular r:id="rId32"/>
    </p:embeddedFont>
    <p:embeddedFont>
      <p:font typeface="Canva Sans Bold" charset="1" panose="020B0803030501040103"/>
      <p:regular r:id="rId33"/>
    </p:embeddedFont>
    <p:embeddedFont>
      <p:font typeface="Bricolage Grotesque Bold" charset="1" panose="020B06050404020002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jpe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2.jpe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jpeg" Type="http://schemas.openxmlformats.org/officeDocument/2006/relationships/image"/><Relationship Id="rId7" Target="../media/image16.jpeg" Type="http://schemas.openxmlformats.org/officeDocument/2006/relationships/image"/><Relationship Id="rId8" Target="../media/image1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jpeg" Type="http://schemas.openxmlformats.org/officeDocument/2006/relationships/image"/><Relationship Id="rId11" Target="../media/image23.jpeg" Type="http://schemas.openxmlformats.org/officeDocument/2006/relationships/image"/><Relationship Id="rId12" Target="../media/image24.jpe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8.jpeg" Type="http://schemas.openxmlformats.org/officeDocument/2006/relationships/image"/><Relationship Id="rId7" Target="../media/image19.jpeg" Type="http://schemas.openxmlformats.org/officeDocument/2006/relationships/image"/><Relationship Id="rId8" Target="../media/image20.jpeg" Type="http://schemas.openxmlformats.org/officeDocument/2006/relationships/image"/><Relationship Id="rId9" Target="../media/image2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5.jpeg" Type="http://schemas.openxmlformats.org/officeDocument/2006/relationships/image"/><Relationship Id="rId7" Target="../media/image2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39.jpeg" Type="http://schemas.openxmlformats.org/officeDocument/2006/relationships/image"/><Relationship Id="rId7" Target="../media/image40.jpeg" Type="http://schemas.openxmlformats.org/officeDocument/2006/relationships/image"/><Relationship Id="rId8" Target="../media/image4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67" r="0" b="-17576"/>
            </a:stretch>
          </a:blipFill>
        </p:spPr>
      </p:sp>
      <p:sp>
        <p:nvSpPr>
          <p:cNvPr name="Freeform 3" id="3"/>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Freeform 5" id="5"/>
          <p:cNvSpPr/>
          <p:nvPr/>
        </p:nvSpPr>
        <p:spPr>
          <a:xfrm flipH="false" flipV="false" rot="0">
            <a:off x="8950817" y="8871934"/>
            <a:ext cx="386366" cy="386366"/>
          </a:xfrm>
          <a:custGeom>
            <a:avLst/>
            <a:gdLst/>
            <a:ahLst/>
            <a:cxnLst/>
            <a:rect r="r" b="b" t="t" l="l"/>
            <a:pathLst>
              <a:path h="386366" w="386366">
                <a:moveTo>
                  <a:pt x="0" y="0"/>
                </a:moveTo>
                <a:lnTo>
                  <a:pt x="386366" y="0"/>
                </a:lnTo>
                <a:lnTo>
                  <a:pt x="386366" y="386366"/>
                </a:lnTo>
                <a:lnTo>
                  <a:pt x="0" y="3863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5684375" y="4862465"/>
            <a:ext cx="7420207" cy="517060"/>
            <a:chOff x="0" y="0"/>
            <a:chExt cx="14365050" cy="1000996"/>
          </a:xfrm>
        </p:grpSpPr>
        <p:sp>
          <p:nvSpPr>
            <p:cNvPr name="Freeform 7" id="7"/>
            <p:cNvSpPr/>
            <p:nvPr/>
          </p:nvSpPr>
          <p:spPr>
            <a:xfrm flipH="false" flipV="false" rot="0">
              <a:off x="0" y="0"/>
              <a:ext cx="14365050" cy="1000995"/>
            </a:xfrm>
            <a:custGeom>
              <a:avLst/>
              <a:gdLst/>
              <a:ahLst/>
              <a:cxnLst/>
              <a:rect r="r" b="b" t="t" l="l"/>
              <a:pathLst>
                <a:path h="1000995" w="14365050">
                  <a:moveTo>
                    <a:pt x="14126925" y="0"/>
                  </a:moveTo>
                  <a:lnTo>
                    <a:pt x="14365050" y="238125"/>
                  </a:lnTo>
                  <a:lnTo>
                    <a:pt x="14365050" y="762871"/>
                  </a:lnTo>
                  <a:lnTo>
                    <a:pt x="14126925" y="1000995"/>
                  </a:lnTo>
                  <a:lnTo>
                    <a:pt x="238125" y="1000995"/>
                  </a:lnTo>
                  <a:lnTo>
                    <a:pt x="0" y="762871"/>
                  </a:lnTo>
                  <a:lnTo>
                    <a:pt x="0" y="238125"/>
                  </a:lnTo>
                  <a:lnTo>
                    <a:pt x="238125" y="0"/>
                  </a:lnTo>
                  <a:lnTo>
                    <a:pt x="14126925" y="0"/>
                  </a:lnTo>
                  <a:close/>
                </a:path>
              </a:pathLst>
            </a:custGeom>
            <a:solidFill>
              <a:srgbClr val="000000">
                <a:alpha val="0"/>
              </a:srgbClr>
            </a:solidFill>
            <a:ln w="9525" cap="sq">
              <a:solidFill>
                <a:srgbClr val="5CE6E2"/>
              </a:solidFill>
              <a:prstDash val="solid"/>
              <a:miter/>
            </a:ln>
          </p:spPr>
        </p:sp>
        <p:sp>
          <p:nvSpPr>
            <p:cNvPr name="TextBox 8" id="8"/>
            <p:cNvSpPr txBox="true"/>
            <p:nvPr/>
          </p:nvSpPr>
          <p:spPr>
            <a:xfrm>
              <a:off x="63500" y="120650"/>
              <a:ext cx="14238050" cy="816846"/>
            </a:xfrm>
            <a:prstGeom prst="rect">
              <a:avLst/>
            </a:prstGeom>
          </p:spPr>
          <p:txBody>
            <a:bodyPr anchor="ctr" rtlCol="false" tIns="50800" lIns="50800" bIns="50800" rIns="50800"/>
            <a:lstStyle/>
            <a:p>
              <a:pPr algn="ctr">
                <a:lnSpc>
                  <a:spcPts val="1565"/>
                </a:lnSpc>
              </a:pPr>
              <a:r>
                <a:rPr lang="en-US" sz="1799" spc="-68">
                  <a:solidFill>
                    <a:srgbClr val="5CE6E2"/>
                  </a:solidFill>
                  <a:latin typeface="Open Sauce"/>
                  <a:ea typeface="Open Sauce"/>
                  <a:cs typeface="Open Sauce"/>
                  <a:sym typeface="Open Sauce"/>
                </a:rPr>
                <a:t>IT 326 -Data Mining</a:t>
              </a:r>
            </a:p>
          </p:txBody>
        </p:sp>
      </p:grpSp>
      <p:sp>
        <p:nvSpPr>
          <p:cNvPr name="Freeform 9" id="9"/>
          <p:cNvSpPr/>
          <p:nvPr/>
        </p:nvSpPr>
        <p:spPr>
          <a:xfrm flipH="false" flipV="false" rot="0">
            <a:off x="5684375" y="4178761"/>
            <a:ext cx="357033" cy="89258"/>
          </a:xfrm>
          <a:custGeom>
            <a:avLst/>
            <a:gdLst/>
            <a:ahLst/>
            <a:cxnLst/>
            <a:rect r="r" b="b" t="t" l="l"/>
            <a:pathLst>
              <a:path h="89258" w="357033">
                <a:moveTo>
                  <a:pt x="0" y="0"/>
                </a:moveTo>
                <a:lnTo>
                  <a:pt x="357033" y="0"/>
                </a:lnTo>
                <a:lnTo>
                  <a:pt x="357033" y="89259"/>
                </a:lnTo>
                <a:lnTo>
                  <a:pt x="0" y="892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675664" y="2636380"/>
            <a:ext cx="14936672" cy="2015738"/>
          </a:xfrm>
          <a:prstGeom prst="rect">
            <a:avLst/>
          </a:prstGeom>
        </p:spPr>
        <p:txBody>
          <a:bodyPr anchor="t" rtlCol="false" tIns="0" lIns="0" bIns="0" rIns="0">
            <a:spAutoFit/>
          </a:bodyPr>
          <a:lstStyle/>
          <a:p>
            <a:pPr algn="ctr">
              <a:lnSpc>
                <a:spcPts val="7469"/>
              </a:lnSpc>
            </a:pPr>
            <a:r>
              <a:rPr lang="en-US" b="true" sz="9576" spc="-794">
                <a:solidFill>
                  <a:srgbClr val="5CE6E2"/>
                </a:solidFill>
                <a:latin typeface="Bricolage Grotesque Medium"/>
                <a:ea typeface="Bricolage Grotesque Medium"/>
                <a:cs typeface="Bricolage Grotesque Medium"/>
                <a:sym typeface="Bricolage Grotesque Medium"/>
              </a:rPr>
              <a:t>AIR QUALITY ANALYSIS USING DATA MINNIG TECHNIQUES</a:t>
            </a:r>
          </a:p>
        </p:txBody>
      </p:sp>
      <p:sp>
        <p:nvSpPr>
          <p:cNvPr name="TextBox 11" id="11"/>
          <p:cNvSpPr txBox="true"/>
          <p:nvPr/>
        </p:nvSpPr>
        <p:spPr>
          <a:xfrm rot="0">
            <a:off x="6716038" y="705164"/>
            <a:ext cx="905580" cy="172920"/>
          </a:xfrm>
          <a:prstGeom prst="rect">
            <a:avLst/>
          </a:prstGeom>
        </p:spPr>
        <p:txBody>
          <a:bodyPr anchor="t" rtlCol="false" tIns="0" lIns="0" bIns="0" rIns="0">
            <a:spAutoFit/>
          </a:bodyPr>
          <a:lstStyle/>
          <a:p>
            <a:pPr algn="ctr">
              <a:lnSpc>
                <a:spcPts val="1218"/>
              </a:lnSpc>
            </a:pPr>
            <a:r>
              <a:rPr lang="en-US" b="true" sz="1400" spc="-53">
                <a:solidFill>
                  <a:srgbClr val="5CE6E2"/>
                </a:solidFill>
                <a:latin typeface="Open Sauce Bold"/>
                <a:ea typeface="Open Sauce Bold"/>
                <a:cs typeface="Open Sauce Bold"/>
                <a:sym typeface="Open Sauce Bold"/>
              </a:rPr>
              <a:t>Home</a:t>
            </a:r>
          </a:p>
        </p:txBody>
      </p:sp>
      <p:sp>
        <p:nvSpPr>
          <p:cNvPr name="TextBox 12" id="12"/>
          <p:cNvSpPr txBox="true"/>
          <p:nvPr/>
        </p:nvSpPr>
        <p:spPr>
          <a:xfrm rot="0">
            <a:off x="7954136" y="705164"/>
            <a:ext cx="1030057"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Services</a:t>
            </a:r>
          </a:p>
        </p:txBody>
      </p:sp>
      <p:sp>
        <p:nvSpPr>
          <p:cNvPr name="TextBox 13" id="13"/>
          <p:cNvSpPr txBox="true"/>
          <p:nvPr/>
        </p:nvSpPr>
        <p:spPr>
          <a:xfrm rot="0">
            <a:off x="9316711" y="705164"/>
            <a:ext cx="1017153"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Solution</a:t>
            </a:r>
          </a:p>
        </p:txBody>
      </p:sp>
      <p:sp>
        <p:nvSpPr>
          <p:cNvPr name="TextBox 14" id="14"/>
          <p:cNvSpPr txBox="true"/>
          <p:nvPr/>
        </p:nvSpPr>
        <p:spPr>
          <a:xfrm rot="0">
            <a:off x="10666382" y="705164"/>
            <a:ext cx="905580"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About</a:t>
            </a:r>
          </a:p>
        </p:txBody>
      </p:sp>
      <p:sp>
        <p:nvSpPr>
          <p:cNvPr name="TextBox 15" id="15"/>
          <p:cNvSpPr txBox="true"/>
          <p:nvPr/>
        </p:nvSpPr>
        <p:spPr>
          <a:xfrm rot="0">
            <a:off x="6214119" y="7476225"/>
            <a:ext cx="6205184" cy="286122"/>
          </a:xfrm>
          <a:prstGeom prst="rect">
            <a:avLst/>
          </a:prstGeom>
        </p:spPr>
        <p:txBody>
          <a:bodyPr anchor="t" rtlCol="false" tIns="0" lIns="0" bIns="0" rIns="0">
            <a:spAutoFit/>
          </a:bodyPr>
          <a:lstStyle/>
          <a:p>
            <a:pPr algn="ctr" rtl="true">
              <a:lnSpc>
                <a:spcPts val="1955"/>
              </a:lnSpc>
            </a:pPr>
            <a:r>
              <a:rPr lang="ar-EG" b="true" sz="2506">
                <a:solidFill>
                  <a:srgbClr val="FFFFFF"/>
                </a:solidFill>
                <a:latin typeface="Bricolage Grotesque Medium"/>
                <a:ea typeface="Bricolage Grotesque Medium"/>
                <a:cs typeface="Bricolage Grotesque Medium"/>
                <a:sym typeface="Bricolage Grotesque Medium"/>
                <a:rtl val="true"/>
              </a:rPr>
              <a:t>رهف الشلوي </a:t>
            </a:r>
            <a:r>
              <a:rPr lang="en-US" b="true" sz="2506">
                <a:solidFill>
                  <a:srgbClr val="FFFFFF"/>
                </a:solidFill>
                <a:latin typeface="Bricolage Grotesque Medium"/>
                <a:ea typeface="Bricolage Grotesque Medium"/>
                <a:cs typeface="Bricolage Grotesque Medium"/>
                <a:sym typeface="Bricolage Grotesque Medium"/>
              </a:rPr>
              <a:t>445201250</a:t>
            </a:r>
          </a:p>
        </p:txBody>
      </p:sp>
      <p:sp>
        <p:nvSpPr>
          <p:cNvPr name="Freeform 16" id="16"/>
          <p:cNvSpPr/>
          <p:nvPr/>
        </p:nvSpPr>
        <p:spPr>
          <a:xfrm flipH="false" flipV="false" rot="0">
            <a:off x="12246592" y="4178761"/>
            <a:ext cx="357033" cy="89258"/>
          </a:xfrm>
          <a:custGeom>
            <a:avLst/>
            <a:gdLst/>
            <a:ahLst/>
            <a:cxnLst/>
            <a:rect r="r" b="b" t="t" l="l"/>
            <a:pathLst>
              <a:path h="89258" w="357033">
                <a:moveTo>
                  <a:pt x="0" y="0"/>
                </a:moveTo>
                <a:lnTo>
                  <a:pt x="357033" y="0"/>
                </a:lnTo>
                <a:lnTo>
                  <a:pt x="357033" y="89259"/>
                </a:lnTo>
                <a:lnTo>
                  <a:pt x="0" y="892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1028700" y="9085881"/>
            <a:ext cx="222085" cy="172419"/>
          </a:xfrm>
          <a:custGeom>
            <a:avLst/>
            <a:gdLst/>
            <a:ahLst/>
            <a:cxnLst/>
            <a:rect r="r" b="b" t="t" l="l"/>
            <a:pathLst>
              <a:path h="172419" w="222085">
                <a:moveTo>
                  <a:pt x="0" y="0"/>
                </a:moveTo>
                <a:lnTo>
                  <a:pt x="222085" y="0"/>
                </a:lnTo>
                <a:lnTo>
                  <a:pt x="222085" y="172419"/>
                </a:lnTo>
                <a:lnTo>
                  <a:pt x="0" y="1724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true" flipV="false" rot="0">
            <a:off x="17037215" y="9065117"/>
            <a:ext cx="222085" cy="172419"/>
          </a:xfrm>
          <a:custGeom>
            <a:avLst/>
            <a:gdLst/>
            <a:ahLst/>
            <a:cxnLst/>
            <a:rect r="r" b="b" t="t" l="l"/>
            <a:pathLst>
              <a:path h="172419" w="222085">
                <a:moveTo>
                  <a:pt x="222085" y="0"/>
                </a:moveTo>
                <a:lnTo>
                  <a:pt x="0" y="0"/>
                </a:lnTo>
                <a:lnTo>
                  <a:pt x="0" y="172419"/>
                </a:lnTo>
                <a:lnTo>
                  <a:pt x="222085" y="172419"/>
                </a:lnTo>
                <a:lnTo>
                  <a:pt x="222085"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7278946" y="7035618"/>
            <a:ext cx="4231066" cy="286122"/>
          </a:xfrm>
          <a:prstGeom prst="rect">
            <a:avLst/>
          </a:prstGeom>
        </p:spPr>
        <p:txBody>
          <a:bodyPr anchor="t" rtlCol="false" tIns="0" lIns="0" bIns="0" rIns="0">
            <a:spAutoFit/>
          </a:bodyPr>
          <a:lstStyle/>
          <a:p>
            <a:pPr algn="ctr" rtl="true">
              <a:lnSpc>
                <a:spcPts val="1955"/>
              </a:lnSpc>
            </a:pPr>
            <a:r>
              <a:rPr lang="ar-EG" b="true" sz="2506">
                <a:solidFill>
                  <a:srgbClr val="FFFFFF"/>
                </a:solidFill>
                <a:latin typeface="Bricolage Grotesque Medium"/>
                <a:ea typeface="Bricolage Grotesque Medium"/>
                <a:cs typeface="Bricolage Grotesque Medium"/>
                <a:sym typeface="Bricolage Grotesque Medium"/>
                <a:rtl val="true"/>
              </a:rPr>
              <a:t> لين عبدالله المقحم </a:t>
            </a:r>
            <a:r>
              <a:rPr lang="en-US" b="true" sz="2506">
                <a:solidFill>
                  <a:srgbClr val="FFFFFF"/>
                </a:solidFill>
                <a:latin typeface="Bricolage Grotesque Medium"/>
                <a:ea typeface="Bricolage Grotesque Medium"/>
                <a:cs typeface="Bricolage Grotesque Medium"/>
                <a:sym typeface="Bricolage Grotesque Medium"/>
              </a:rPr>
              <a:t>445204203</a:t>
            </a:r>
          </a:p>
        </p:txBody>
      </p:sp>
      <p:sp>
        <p:nvSpPr>
          <p:cNvPr name="TextBox 20" id="20"/>
          <p:cNvSpPr txBox="true"/>
          <p:nvPr/>
        </p:nvSpPr>
        <p:spPr>
          <a:xfrm rot="0">
            <a:off x="7340896" y="6595011"/>
            <a:ext cx="4231066" cy="286122"/>
          </a:xfrm>
          <a:prstGeom prst="rect">
            <a:avLst/>
          </a:prstGeom>
        </p:spPr>
        <p:txBody>
          <a:bodyPr anchor="t" rtlCol="false" tIns="0" lIns="0" bIns="0" rIns="0">
            <a:spAutoFit/>
          </a:bodyPr>
          <a:lstStyle/>
          <a:p>
            <a:pPr algn="ctr" rtl="true">
              <a:lnSpc>
                <a:spcPts val="1955"/>
              </a:lnSpc>
            </a:pPr>
            <a:r>
              <a:rPr lang="ar-EG" sz="2506">
                <a:solidFill>
                  <a:srgbClr val="FFFFFF"/>
                </a:solidFill>
                <a:latin typeface="Bricolage Grotesque"/>
                <a:ea typeface="Bricolage Grotesque"/>
                <a:cs typeface="Bricolage Grotesque"/>
                <a:sym typeface="Bricolage Grotesque"/>
                <a:rtl val="true"/>
              </a:rPr>
              <a:t>أضواء الهزاني </a:t>
            </a:r>
            <a:r>
              <a:rPr lang="en-US" sz="2506">
                <a:solidFill>
                  <a:srgbClr val="FFFFFF"/>
                </a:solidFill>
                <a:latin typeface="Bricolage Grotesque"/>
                <a:ea typeface="Bricolage Grotesque"/>
                <a:cs typeface="Bricolage Grotesque"/>
                <a:sym typeface="Bricolage Grotesque"/>
              </a:rPr>
              <a:t>444201650</a:t>
            </a:r>
          </a:p>
        </p:txBody>
      </p:sp>
      <p:sp>
        <p:nvSpPr>
          <p:cNvPr name="TextBox 21" id="21"/>
          <p:cNvSpPr txBox="true"/>
          <p:nvPr/>
        </p:nvSpPr>
        <p:spPr>
          <a:xfrm rot="0">
            <a:off x="7278946" y="6156489"/>
            <a:ext cx="4231066" cy="286122"/>
          </a:xfrm>
          <a:prstGeom prst="rect">
            <a:avLst/>
          </a:prstGeom>
        </p:spPr>
        <p:txBody>
          <a:bodyPr anchor="t" rtlCol="false" tIns="0" lIns="0" bIns="0" rIns="0">
            <a:spAutoFit/>
          </a:bodyPr>
          <a:lstStyle/>
          <a:p>
            <a:pPr algn="ctr" rtl="true">
              <a:lnSpc>
                <a:spcPts val="1955"/>
              </a:lnSpc>
            </a:pPr>
            <a:r>
              <a:rPr lang="ar-EG" sz="2506">
                <a:solidFill>
                  <a:srgbClr val="FFFFFF"/>
                </a:solidFill>
                <a:latin typeface="Bricolage Grotesque"/>
                <a:ea typeface="Bricolage Grotesque"/>
                <a:cs typeface="Bricolage Grotesque"/>
                <a:sym typeface="Bricolage Grotesque"/>
                <a:rtl val="true"/>
              </a:rPr>
              <a:t>  ماريا الشمراني </a:t>
            </a:r>
            <a:r>
              <a:rPr lang="en-US" sz="2506">
                <a:solidFill>
                  <a:srgbClr val="FFFFFF"/>
                </a:solidFill>
                <a:latin typeface="Bricolage Grotesque"/>
                <a:ea typeface="Bricolage Grotesque"/>
                <a:cs typeface="Bricolage Grotesque"/>
                <a:sym typeface="Bricolage Grotesque"/>
              </a:rPr>
              <a:t>445202990</a:t>
            </a:r>
          </a:p>
        </p:txBody>
      </p:sp>
      <p:sp>
        <p:nvSpPr>
          <p:cNvPr name="TextBox 22" id="22"/>
          <p:cNvSpPr txBox="true"/>
          <p:nvPr/>
        </p:nvSpPr>
        <p:spPr>
          <a:xfrm rot="0">
            <a:off x="7168828" y="7914747"/>
            <a:ext cx="4231066" cy="286122"/>
          </a:xfrm>
          <a:prstGeom prst="rect">
            <a:avLst/>
          </a:prstGeom>
        </p:spPr>
        <p:txBody>
          <a:bodyPr anchor="t" rtlCol="false" tIns="0" lIns="0" bIns="0" rIns="0">
            <a:spAutoFit/>
          </a:bodyPr>
          <a:lstStyle/>
          <a:p>
            <a:pPr algn="ctr" rtl="true">
              <a:lnSpc>
                <a:spcPts val="1955"/>
              </a:lnSpc>
            </a:pPr>
            <a:r>
              <a:rPr lang="ar-EG" b="true" sz="2506">
                <a:solidFill>
                  <a:srgbClr val="FFFFFF"/>
                </a:solidFill>
                <a:latin typeface="Bricolage Grotesque Medium"/>
                <a:ea typeface="Bricolage Grotesque Medium"/>
                <a:cs typeface="Bricolage Grotesque Medium"/>
                <a:sym typeface="Bricolage Grotesque Medium"/>
                <a:rtl val="true"/>
              </a:rPr>
              <a:t>فاطمه المحسن </a:t>
            </a:r>
            <a:r>
              <a:rPr lang="en-US" b="true" sz="2506">
                <a:solidFill>
                  <a:srgbClr val="FFFFFF"/>
                </a:solidFill>
                <a:latin typeface="Bricolage Grotesque Medium"/>
                <a:ea typeface="Bricolage Grotesque Medium"/>
                <a:cs typeface="Bricolage Grotesque Medium"/>
                <a:sym typeface="Bricolage Grotesque Medium"/>
              </a:rPr>
              <a:t>443200782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grpSp>
        <p:nvGrpSpPr>
          <p:cNvPr name="Group 4" id="4"/>
          <p:cNvGrpSpPr/>
          <p:nvPr/>
        </p:nvGrpSpPr>
        <p:grpSpPr>
          <a:xfrm rot="0">
            <a:off x="8839148" y="5292725"/>
            <a:ext cx="2355420" cy="6922073"/>
            <a:chOff x="0" y="0"/>
            <a:chExt cx="1738579" cy="5109309"/>
          </a:xfrm>
        </p:grpSpPr>
        <p:sp>
          <p:nvSpPr>
            <p:cNvPr name="Freeform 5" id="5"/>
            <p:cNvSpPr/>
            <p:nvPr/>
          </p:nvSpPr>
          <p:spPr>
            <a:xfrm flipH="false" flipV="false" rot="0">
              <a:off x="0" y="0"/>
              <a:ext cx="1738579" cy="5109309"/>
            </a:xfrm>
            <a:custGeom>
              <a:avLst/>
              <a:gdLst/>
              <a:ahLst/>
              <a:cxnLst/>
              <a:rect r="r" b="b" t="t" l="l"/>
              <a:pathLst>
                <a:path h="5109309" w="1738579">
                  <a:moveTo>
                    <a:pt x="1500454" y="0"/>
                  </a:moveTo>
                  <a:lnTo>
                    <a:pt x="1738579" y="238125"/>
                  </a:lnTo>
                  <a:lnTo>
                    <a:pt x="1738579" y="4871184"/>
                  </a:lnTo>
                  <a:lnTo>
                    <a:pt x="1500454" y="5109309"/>
                  </a:lnTo>
                  <a:lnTo>
                    <a:pt x="238125" y="5109309"/>
                  </a:lnTo>
                  <a:lnTo>
                    <a:pt x="0" y="4871184"/>
                  </a:lnTo>
                  <a:lnTo>
                    <a:pt x="0" y="238125"/>
                  </a:lnTo>
                  <a:lnTo>
                    <a:pt x="238125" y="0"/>
                  </a:lnTo>
                  <a:lnTo>
                    <a:pt x="1500454" y="0"/>
                  </a:lnTo>
                  <a:close/>
                </a:path>
              </a:pathLst>
            </a:custGeom>
            <a:solidFill>
              <a:srgbClr val="000000">
                <a:alpha val="0"/>
              </a:srgbClr>
            </a:solidFill>
            <a:ln w="9525" cap="sq">
              <a:solidFill>
                <a:srgbClr val="5CE6E2"/>
              </a:solidFill>
              <a:prstDash val="solid"/>
              <a:miter/>
            </a:ln>
          </p:spPr>
        </p:sp>
        <p:sp>
          <p:nvSpPr>
            <p:cNvPr name="TextBox 6" id="6"/>
            <p:cNvSpPr txBox="true"/>
            <p:nvPr/>
          </p:nvSpPr>
          <p:spPr>
            <a:xfrm>
              <a:off x="63500" y="101600"/>
              <a:ext cx="1611579" cy="4944209"/>
            </a:xfrm>
            <a:prstGeom prst="rect">
              <a:avLst/>
            </a:prstGeom>
          </p:spPr>
          <p:txBody>
            <a:bodyPr anchor="ctr" rtlCol="false" tIns="50800" lIns="50800" bIns="50800" rIns="50800"/>
            <a:lstStyle/>
            <a:p>
              <a:pPr algn="ctr">
                <a:lnSpc>
                  <a:spcPts val="1218"/>
                </a:lnSpc>
              </a:pPr>
            </a:p>
          </p:txBody>
        </p:sp>
      </p:grpSp>
      <p:sp>
        <p:nvSpPr>
          <p:cNvPr name="Freeform 7" id="7"/>
          <p:cNvSpPr/>
          <p:nvPr/>
        </p:nvSpPr>
        <p:spPr>
          <a:xfrm flipH="false" flipV="false" rot="0">
            <a:off x="1028700" y="9085881"/>
            <a:ext cx="222085" cy="172419"/>
          </a:xfrm>
          <a:custGeom>
            <a:avLst/>
            <a:gdLst/>
            <a:ahLst/>
            <a:cxnLst/>
            <a:rect r="r" b="b" t="t" l="l"/>
            <a:pathLst>
              <a:path h="172419" w="222085">
                <a:moveTo>
                  <a:pt x="0" y="0"/>
                </a:moveTo>
                <a:lnTo>
                  <a:pt x="222085" y="0"/>
                </a:lnTo>
                <a:lnTo>
                  <a:pt x="222085" y="172419"/>
                </a:lnTo>
                <a:lnTo>
                  <a:pt x="0" y="1724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2208153" y="2584186"/>
            <a:ext cx="5051147" cy="3311410"/>
            <a:chOff x="0" y="0"/>
            <a:chExt cx="2107205" cy="1381433"/>
          </a:xfrm>
        </p:grpSpPr>
        <p:sp>
          <p:nvSpPr>
            <p:cNvPr name="Freeform 9" id="9"/>
            <p:cNvSpPr/>
            <p:nvPr/>
          </p:nvSpPr>
          <p:spPr>
            <a:xfrm flipH="false" flipV="false" rot="0">
              <a:off x="0" y="0"/>
              <a:ext cx="2107205" cy="1381433"/>
            </a:xfrm>
            <a:custGeom>
              <a:avLst/>
              <a:gdLst/>
              <a:ahLst/>
              <a:cxnLst/>
              <a:rect r="r" b="b" t="t" l="l"/>
              <a:pathLst>
                <a:path h="1381433" w="2107205">
                  <a:moveTo>
                    <a:pt x="1947185" y="0"/>
                  </a:moveTo>
                  <a:lnTo>
                    <a:pt x="160020" y="0"/>
                  </a:lnTo>
                  <a:lnTo>
                    <a:pt x="0" y="160020"/>
                  </a:lnTo>
                  <a:lnTo>
                    <a:pt x="0" y="1221413"/>
                  </a:lnTo>
                  <a:lnTo>
                    <a:pt x="160020" y="1381433"/>
                  </a:lnTo>
                  <a:lnTo>
                    <a:pt x="1947185" y="1381433"/>
                  </a:lnTo>
                  <a:lnTo>
                    <a:pt x="2107205" y="1221413"/>
                  </a:lnTo>
                  <a:lnTo>
                    <a:pt x="2107205" y="160020"/>
                  </a:lnTo>
                  <a:lnTo>
                    <a:pt x="1947185" y="0"/>
                  </a:lnTo>
                  <a:close/>
                </a:path>
              </a:pathLst>
            </a:custGeom>
            <a:blipFill>
              <a:blip r:embed="rId6"/>
              <a:stretch>
                <a:fillRect l="-8344" t="0" r="-8344" b="0"/>
              </a:stretch>
            </a:blipFill>
          </p:spPr>
        </p:sp>
      </p:grpSp>
      <p:sp>
        <p:nvSpPr>
          <p:cNvPr name="Freeform 10" id="10"/>
          <p:cNvSpPr/>
          <p:nvPr/>
        </p:nvSpPr>
        <p:spPr>
          <a:xfrm flipH="false" flipV="false" rot="0">
            <a:off x="12208153" y="8871934"/>
            <a:ext cx="386366" cy="386366"/>
          </a:xfrm>
          <a:custGeom>
            <a:avLst/>
            <a:gdLst/>
            <a:ahLst/>
            <a:cxnLst/>
            <a:rect r="r" b="b" t="t" l="l"/>
            <a:pathLst>
              <a:path h="386366" w="386366">
                <a:moveTo>
                  <a:pt x="0" y="0"/>
                </a:moveTo>
                <a:lnTo>
                  <a:pt x="386366" y="0"/>
                </a:lnTo>
                <a:lnTo>
                  <a:pt x="386366" y="386366"/>
                </a:lnTo>
                <a:lnTo>
                  <a:pt x="0" y="3863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028700" y="4195262"/>
            <a:ext cx="357033" cy="89258"/>
          </a:xfrm>
          <a:custGeom>
            <a:avLst/>
            <a:gdLst/>
            <a:ahLst/>
            <a:cxnLst/>
            <a:rect r="r" b="b" t="t" l="l"/>
            <a:pathLst>
              <a:path h="89258" w="357033">
                <a:moveTo>
                  <a:pt x="0" y="0"/>
                </a:moveTo>
                <a:lnTo>
                  <a:pt x="357033" y="0"/>
                </a:lnTo>
                <a:lnTo>
                  <a:pt x="357033" y="89258"/>
                </a:lnTo>
                <a:lnTo>
                  <a:pt x="0" y="892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1028700" y="2654982"/>
            <a:ext cx="10808469" cy="1318045"/>
          </a:xfrm>
          <a:prstGeom prst="rect">
            <a:avLst/>
          </a:prstGeom>
        </p:spPr>
        <p:txBody>
          <a:bodyPr anchor="t" rtlCol="false" tIns="0" lIns="0" bIns="0" rIns="0">
            <a:spAutoFit/>
          </a:bodyPr>
          <a:lstStyle/>
          <a:p>
            <a:pPr algn="l">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INTRODUCTION</a:t>
            </a:r>
          </a:p>
        </p:txBody>
      </p:sp>
      <p:sp>
        <p:nvSpPr>
          <p:cNvPr name="TextBox 13" id="13"/>
          <p:cNvSpPr txBox="true"/>
          <p:nvPr/>
        </p:nvSpPr>
        <p:spPr>
          <a:xfrm rot="0">
            <a:off x="6716038" y="705164"/>
            <a:ext cx="905580" cy="172920"/>
          </a:xfrm>
          <a:prstGeom prst="rect">
            <a:avLst/>
          </a:prstGeom>
        </p:spPr>
        <p:txBody>
          <a:bodyPr anchor="t" rtlCol="false" tIns="0" lIns="0" bIns="0" rIns="0">
            <a:spAutoFit/>
          </a:bodyPr>
          <a:lstStyle/>
          <a:p>
            <a:pPr algn="ctr">
              <a:lnSpc>
                <a:spcPts val="1218"/>
              </a:lnSpc>
            </a:pPr>
            <a:r>
              <a:rPr lang="en-US" b="true" sz="1400" spc="-53">
                <a:solidFill>
                  <a:srgbClr val="5CE6E2"/>
                </a:solidFill>
                <a:latin typeface="Open Sauce Bold"/>
                <a:ea typeface="Open Sauce Bold"/>
                <a:cs typeface="Open Sauce Bold"/>
                <a:sym typeface="Open Sauce Bold"/>
              </a:rPr>
              <a:t>Home</a:t>
            </a:r>
          </a:p>
        </p:txBody>
      </p:sp>
      <p:sp>
        <p:nvSpPr>
          <p:cNvPr name="TextBox 14" id="14"/>
          <p:cNvSpPr txBox="true"/>
          <p:nvPr/>
        </p:nvSpPr>
        <p:spPr>
          <a:xfrm rot="0">
            <a:off x="7954136" y="705164"/>
            <a:ext cx="1030057"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Services</a:t>
            </a:r>
          </a:p>
        </p:txBody>
      </p:sp>
      <p:sp>
        <p:nvSpPr>
          <p:cNvPr name="TextBox 15" id="15"/>
          <p:cNvSpPr txBox="true"/>
          <p:nvPr/>
        </p:nvSpPr>
        <p:spPr>
          <a:xfrm rot="0">
            <a:off x="9316711" y="705164"/>
            <a:ext cx="1017153"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Solution</a:t>
            </a:r>
          </a:p>
        </p:txBody>
      </p:sp>
      <p:sp>
        <p:nvSpPr>
          <p:cNvPr name="TextBox 16" id="16"/>
          <p:cNvSpPr txBox="true"/>
          <p:nvPr/>
        </p:nvSpPr>
        <p:spPr>
          <a:xfrm rot="0">
            <a:off x="10666382" y="705164"/>
            <a:ext cx="905580"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About</a:t>
            </a:r>
          </a:p>
        </p:txBody>
      </p:sp>
      <p:sp>
        <p:nvSpPr>
          <p:cNvPr name="TextBox 17" id="17"/>
          <p:cNvSpPr txBox="true"/>
          <p:nvPr/>
        </p:nvSpPr>
        <p:spPr>
          <a:xfrm rot="0">
            <a:off x="1028700" y="5294989"/>
            <a:ext cx="9477973" cy="3076575"/>
          </a:xfrm>
          <a:prstGeom prst="rect">
            <a:avLst/>
          </a:prstGeom>
        </p:spPr>
        <p:txBody>
          <a:bodyPr anchor="t" rtlCol="false" tIns="0" lIns="0" bIns="0" rIns="0">
            <a:spAutoFit/>
          </a:bodyPr>
          <a:lstStyle/>
          <a:p>
            <a:pPr algn="l">
              <a:lnSpc>
                <a:spcPts val="3479"/>
              </a:lnSpc>
            </a:pPr>
          </a:p>
          <a:p>
            <a:pPr algn="l">
              <a:lnSpc>
                <a:spcPts val="3479"/>
              </a:lnSpc>
            </a:pPr>
            <a:r>
              <a:rPr lang="en-US" sz="2899" spc="-110">
                <a:solidFill>
                  <a:srgbClr val="FFFFFF"/>
                </a:solidFill>
                <a:latin typeface="Open Sauce"/>
                <a:ea typeface="Open Sauce"/>
                <a:cs typeface="Open Sauce"/>
                <a:sym typeface="Open Sauce"/>
              </a:rPr>
              <a:t>This project analyzes and predicts air quality using classification and clustering. Classification predicts air quality levels, while clustering uncovers hidden patterns in environmental data. Together, they help us understand pollution trends and improve environmental decision</a:t>
            </a:r>
          </a:p>
          <a:p>
            <a:pPr algn="l">
              <a:lnSpc>
                <a:spcPts val="3479"/>
              </a:lnSpc>
            </a:pPr>
          </a:p>
        </p:txBody>
      </p:sp>
      <p:sp>
        <p:nvSpPr>
          <p:cNvPr name="TextBox 18" id="18"/>
          <p:cNvSpPr txBox="true"/>
          <p:nvPr/>
        </p:nvSpPr>
        <p:spPr>
          <a:xfrm rot="0">
            <a:off x="1028700" y="4845050"/>
            <a:ext cx="3690875" cy="447675"/>
          </a:xfrm>
          <a:prstGeom prst="rect">
            <a:avLst/>
          </a:prstGeom>
        </p:spPr>
        <p:txBody>
          <a:bodyPr anchor="t" rtlCol="false" tIns="0" lIns="0" bIns="0" rIns="0">
            <a:spAutoFit/>
          </a:bodyPr>
          <a:lstStyle/>
          <a:p>
            <a:pPr algn="l">
              <a:lnSpc>
                <a:spcPts val="3599"/>
              </a:lnSpc>
            </a:pPr>
            <a:r>
              <a:rPr lang="en-US" sz="2999" spc="-113" b="true">
                <a:solidFill>
                  <a:srgbClr val="5CE6E2"/>
                </a:solidFill>
                <a:latin typeface="Open Sauce Bold"/>
                <a:ea typeface="Open Sauce Bold"/>
                <a:cs typeface="Open Sauce Bold"/>
                <a:sym typeface="Open Sauce Bold"/>
              </a:rPr>
              <a:t>Our Project Goal: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grpSp>
        <p:nvGrpSpPr>
          <p:cNvPr name="Group 4" id="4"/>
          <p:cNvGrpSpPr/>
          <p:nvPr/>
        </p:nvGrpSpPr>
        <p:grpSpPr>
          <a:xfrm rot="0">
            <a:off x="5210453" y="3652566"/>
            <a:ext cx="8135094" cy="6438587"/>
            <a:chOff x="0" y="0"/>
            <a:chExt cx="6642915" cy="5257589"/>
          </a:xfrm>
        </p:grpSpPr>
        <p:sp>
          <p:nvSpPr>
            <p:cNvPr name="Freeform 5" id="5"/>
            <p:cNvSpPr/>
            <p:nvPr/>
          </p:nvSpPr>
          <p:spPr>
            <a:xfrm flipH="false" flipV="false" rot="0">
              <a:off x="0" y="0"/>
              <a:ext cx="6642915" cy="5257590"/>
            </a:xfrm>
            <a:custGeom>
              <a:avLst/>
              <a:gdLst/>
              <a:ahLst/>
              <a:cxnLst/>
              <a:rect r="r" b="b" t="t" l="l"/>
              <a:pathLst>
                <a:path h="5257590" w="6642915">
                  <a:moveTo>
                    <a:pt x="6404790" y="0"/>
                  </a:moveTo>
                  <a:lnTo>
                    <a:pt x="6642915" y="238125"/>
                  </a:lnTo>
                  <a:lnTo>
                    <a:pt x="6642915" y="5019465"/>
                  </a:lnTo>
                  <a:lnTo>
                    <a:pt x="6404790" y="5257590"/>
                  </a:lnTo>
                  <a:lnTo>
                    <a:pt x="238125" y="5257590"/>
                  </a:lnTo>
                  <a:lnTo>
                    <a:pt x="0" y="5019465"/>
                  </a:lnTo>
                  <a:lnTo>
                    <a:pt x="0" y="238125"/>
                  </a:lnTo>
                  <a:lnTo>
                    <a:pt x="238125" y="0"/>
                  </a:lnTo>
                  <a:lnTo>
                    <a:pt x="6404790" y="0"/>
                  </a:lnTo>
                  <a:close/>
                </a:path>
              </a:pathLst>
            </a:custGeom>
            <a:solidFill>
              <a:srgbClr val="031A25"/>
            </a:solidFill>
            <a:ln w="9525" cap="sq">
              <a:solidFill>
                <a:srgbClr val="5CE6E2"/>
              </a:solidFill>
              <a:prstDash val="solid"/>
              <a:miter/>
            </a:ln>
          </p:spPr>
        </p:sp>
        <p:sp>
          <p:nvSpPr>
            <p:cNvPr name="TextBox 6" id="6"/>
            <p:cNvSpPr txBox="true"/>
            <p:nvPr/>
          </p:nvSpPr>
          <p:spPr>
            <a:xfrm>
              <a:off x="63500" y="101600"/>
              <a:ext cx="6515915" cy="5092489"/>
            </a:xfrm>
            <a:prstGeom prst="rect">
              <a:avLst/>
            </a:prstGeom>
          </p:spPr>
          <p:txBody>
            <a:bodyPr anchor="ctr" rtlCol="false" tIns="50800" lIns="50800" bIns="50800" rIns="50800"/>
            <a:lstStyle/>
            <a:p>
              <a:pPr algn="ctr">
                <a:lnSpc>
                  <a:spcPts val="1218"/>
                </a:lnSpc>
              </a:pPr>
            </a:p>
          </p:txBody>
        </p:sp>
      </p:grpSp>
      <p:sp>
        <p:nvSpPr>
          <p:cNvPr name="Freeform 7" id="7"/>
          <p:cNvSpPr/>
          <p:nvPr/>
        </p:nvSpPr>
        <p:spPr>
          <a:xfrm flipH="false" flipV="false" rot="0">
            <a:off x="8984193" y="9169042"/>
            <a:ext cx="357033" cy="89258"/>
          </a:xfrm>
          <a:custGeom>
            <a:avLst/>
            <a:gdLst/>
            <a:ahLst/>
            <a:cxnLst/>
            <a:rect r="r" b="b" t="t" l="l"/>
            <a:pathLst>
              <a:path h="89258" w="357033">
                <a:moveTo>
                  <a:pt x="0" y="0"/>
                </a:moveTo>
                <a:lnTo>
                  <a:pt x="357032" y="0"/>
                </a:lnTo>
                <a:lnTo>
                  <a:pt x="357032" y="89258"/>
                </a:lnTo>
                <a:lnTo>
                  <a:pt x="0" y="89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5944466" y="2781959"/>
            <a:ext cx="4687068" cy="8319777"/>
            <a:chOff x="0" y="0"/>
            <a:chExt cx="3459611" cy="6140980"/>
          </a:xfrm>
        </p:grpSpPr>
        <p:sp>
          <p:nvSpPr>
            <p:cNvPr name="Freeform 9" id="9"/>
            <p:cNvSpPr/>
            <p:nvPr/>
          </p:nvSpPr>
          <p:spPr>
            <a:xfrm flipH="false" flipV="false" rot="0">
              <a:off x="0" y="0"/>
              <a:ext cx="3459611" cy="6140980"/>
            </a:xfrm>
            <a:custGeom>
              <a:avLst/>
              <a:gdLst/>
              <a:ahLst/>
              <a:cxnLst/>
              <a:rect r="r" b="b" t="t" l="l"/>
              <a:pathLst>
                <a:path h="6140980" w="3459611">
                  <a:moveTo>
                    <a:pt x="3221486" y="0"/>
                  </a:moveTo>
                  <a:lnTo>
                    <a:pt x="3459611" y="238125"/>
                  </a:lnTo>
                  <a:lnTo>
                    <a:pt x="3459611" y="5902855"/>
                  </a:lnTo>
                  <a:lnTo>
                    <a:pt x="3221486" y="6140980"/>
                  </a:lnTo>
                  <a:lnTo>
                    <a:pt x="238125" y="6140980"/>
                  </a:lnTo>
                  <a:lnTo>
                    <a:pt x="0" y="5902855"/>
                  </a:lnTo>
                  <a:lnTo>
                    <a:pt x="0" y="238125"/>
                  </a:lnTo>
                  <a:lnTo>
                    <a:pt x="238125" y="0"/>
                  </a:lnTo>
                  <a:lnTo>
                    <a:pt x="3221486" y="0"/>
                  </a:lnTo>
                  <a:close/>
                </a:path>
              </a:pathLst>
            </a:custGeom>
            <a:solidFill>
              <a:srgbClr val="031A25"/>
            </a:solidFill>
            <a:ln w="9525" cap="sq">
              <a:solidFill>
                <a:srgbClr val="5CE6E2"/>
              </a:solidFill>
              <a:prstDash val="solid"/>
              <a:miter/>
            </a:ln>
          </p:spPr>
        </p:sp>
        <p:sp>
          <p:nvSpPr>
            <p:cNvPr name="TextBox 10" id="10"/>
            <p:cNvSpPr txBox="true"/>
            <p:nvPr/>
          </p:nvSpPr>
          <p:spPr>
            <a:xfrm>
              <a:off x="63500" y="101600"/>
              <a:ext cx="3332611" cy="5975880"/>
            </a:xfrm>
            <a:prstGeom prst="rect">
              <a:avLst/>
            </a:prstGeom>
          </p:spPr>
          <p:txBody>
            <a:bodyPr anchor="ctr" rtlCol="false" tIns="50800" lIns="50800" bIns="50800" rIns="50800"/>
            <a:lstStyle/>
            <a:p>
              <a:pPr algn="ctr">
                <a:lnSpc>
                  <a:spcPts val="1218"/>
                </a:lnSpc>
              </a:pPr>
            </a:p>
          </p:txBody>
        </p:sp>
      </p:grpSp>
      <p:grpSp>
        <p:nvGrpSpPr>
          <p:cNvPr name="Group 11" id="11"/>
          <p:cNvGrpSpPr/>
          <p:nvPr/>
        </p:nvGrpSpPr>
        <p:grpSpPr>
          <a:xfrm rot="0">
            <a:off x="13469372" y="4397806"/>
            <a:ext cx="4062271" cy="4948107"/>
            <a:chOff x="0" y="0"/>
            <a:chExt cx="1694672" cy="2064220"/>
          </a:xfrm>
        </p:grpSpPr>
        <p:sp>
          <p:nvSpPr>
            <p:cNvPr name="Freeform 12" id="12"/>
            <p:cNvSpPr/>
            <p:nvPr/>
          </p:nvSpPr>
          <p:spPr>
            <a:xfrm flipH="false" flipV="false" rot="0">
              <a:off x="0" y="0"/>
              <a:ext cx="1694672" cy="2064220"/>
            </a:xfrm>
            <a:custGeom>
              <a:avLst/>
              <a:gdLst/>
              <a:ahLst/>
              <a:cxnLst/>
              <a:rect r="r" b="b" t="t" l="l"/>
              <a:pathLst>
                <a:path h="2064220" w="1694672">
                  <a:moveTo>
                    <a:pt x="1534652" y="0"/>
                  </a:moveTo>
                  <a:lnTo>
                    <a:pt x="160020" y="0"/>
                  </a:lnTo>
                  <a:lnTo>
                    <a:pt x="0" y="160020"/>
                  </a:lnTo>
                  <a:lnTo>
                    <a:pt x="0" y="1904200"/>
                  </a:lnTo>
                  <a:lnTo>
                    <a:pt x="160020" y="2064220"/>
                  </a:lnTo>
                  <a:lnTo>
                    <a:pt x="1534652" y="2064220"/>
                  </a:lnTo>
                  <a:lnTo>
                    <a:pt x="1694672" y="1904200"/>
                  </a:lnTo>
                  <a:lnTo>
                    <a:pt x="1694672" y="160020"/>
                  </a:lnTo>
                  <a:lnTo>
                    <a:pt x="1534652" y="0"/>
                  </a:lnTo>
                  <a:close/>
                </a:path>
              </a:pathLst>
            </a:custGeom>
            <a:blipFill>
              <a:blip r:embed="rId6"/>
              <a:stretch>
                <a:fillRect l="-31204" t="0" r="-31204" b="0"/>
              </a:stretch>
            </a:blipFill>
          </p:spPr>
        </p:sp>
      </p:grpSp>
      <p:grpSp>
        <p:nvGrpSpPr>
          <p:cNvPr name="Group 13" id="13"/>
          <p:cNvGrpSpPr/>
          <p:nvPr/>
        </p:nvGrpSpPr>
        <p:grpSpPr>
          <a:xfrm rot="0">
            <a:off x="-2343534" y="2778865"/>
            <a:ext cx="4687068" cy="8465730"/>
            <a:chOff x="0" y="0"/>
            <a:chExt cx="3459611" cy="6248711"/>
          </a:xfrm>
        </p:grpSpPr>
        <p:sp>
          <p:nvSpPr>
            <p:cNvPr name="Freeform 14" id="14"/>
            <p:cNvSpPr/>
            <p:nvPr/>
          </p:nvSpPr>
          <p:spPr>
            <a:xfrm flipH="false" flipV="false" rot="0">
              <a:off x="0" y="0"/>
              <a:ext cx="3459611" cy="6248710"/>
            </a:xfrm>
            <a:custGeom>
              <a:avLst/>
              <a:gdLst/>
              <a:ahLst/>
              <a:cxnLst/>
              <a:rect r="r" b="b" t="t" l="l"/>
              <a:pathLst>
                <a:path h="6248710" w="3459611">
                  <a:moveTo>
                    <a:pt x="3221486" y="0"/>
                  </a:moveTo>
                  <a:lnTo>
                    <a:pt x="3459611" y="238125"/>
                  </a:lnTo>
                  <a:lnTo>
                    <a:pt x="3459611" y="6010585"/>
                  </a:lnTo>
                  <a:lnTo>
                    <a:pt x="3221486" y="6248710"/>
                  </a:lnTo>
                  <a:lnTo>
                    <a:pt x="238125" y="6248710"/>
                  </a:lnTo>
                  <a:lnTo>
                    <a:pt x="0" y="6010585"/>
                  </a:lnTo>
                  <a:lnTo>
                    <a:pt x="0" y="238125"/>
                  </a:lnTo>
                  <a:lnTo>
                    <a:pt x="238125" y="0"/>
                  </a:lnTo>
                  <a:lnTo>
                    <a:pt x="3221486" y="0"/>
                  </a:lnTo>
                  <a:close/>
                </a:path>
              </a:pathLst>
            </a:custGeom>
            <a:solidFill>
              <a:srgbClr val="031A25"/>
            </a:solidFill>
            <a:ln w="9525" cap="sq">
              <a:solidFill>
                <a:srgbClr val="5CE6E2"/>
              </a:solidFill>
              <a:prstDash val="solid"/>
              <a:miter/>
            </a:ln>
          </p:spPr>
        </p:sp>
        <p:sp>
          <p:nvSpPr>
            <p:cNvPr name="TextBox 15" id="15"/>
            <p:cNvSpPr txBox="true"/>
            <p:nvPr/>
          </p:nvSpPr>
          <p:spPr>
            <a:xfrm>
              <a:off x="63500" y="101600"/>
              <a:ext cx="3332611" cy="6083611"/>
            </a:xfrm>
            <a:prstGeom prst="rect">
              <a:avLst/>
            </a:prstGeom>
          </p:spPr>
          <p:txBody>
            <a:bodyPr anchor="ctr" rtlCol="false" tIns="50800" lIns="50800" bIns="50800" rIns="50800"/>
            <a:lstStyle/>
            <a:p>
              <a:pPr algn="ctr">
                <a:lnSpc>
                  <a:spcPts val="1218"/>
                </a:lnSpc>
              </a:pPr>
            </a:p>
          </p:txBody>
        </p:sp>
      </p:grpSp>
      <p:grpSp>
        <p:nvGrpSpPr>
          <p:cNvPr name="Group 16" id="16"/>
          <p:cNvGrpSpPr/>
          <p:nvPr/>
        </p:nvGrpSpPr>
        <p:grpSpPr>
          <a:xfrm rot="0">
            <a:off x="1028700" y="4310193"/>
            <a:ext cx="4062271" cy="4948107"/>
            <a:chOff x="0" y="0"/>
            <a:chExt cx="1694672" cy="2064220"/>
          </a:xfrm>
        </p:grpSpPr>
        <p:sp>
          <p:nvSpPr>
            <p:cNvPr name="Freeform 17" id="17"/>
            <p:cNvSpPr/>
            <p:nvPr/>
          </p:nvSpPr>
          <p:spPr>
            <a:xfrm flipH="false" flipV="false" rot="0">
              <a:off x="0" y="0"/>
              <a:ext cx="1694672" cy="2064220"/>
            </a:xfrm>
            <a:custGeom>
              <a:avLst/>
              <a:gdLst/>
              <a:ahLst/>
              <a:cxnLst/>
              <a:rect r="r" b="b" t="t" l="l"/>
              <a:pathLst>
                <a:path h="2064220" w="1694672">
                  <a:moveTo>
                    <a:pt x="1534652" y="0"/>
                  </a:moveTo>
                  <a:lnTo>
                    <a:pt x="160020" y="0"/>
                  </a:lnTo>
                  <a:lnTo>
                    <a:pt x="0" y="160020"/>
                  </a:lnTo>
                  <a:lnTo>
                    <a:pt x="0" y="1904200"/>
                  </a:lnTo>
                  <a:lnTo>
                    <a:pt x="160020" y="2064220"/>
                  </a:lnTo>
                  <a:lnTo>
                    <a:pt x="1534652" y="2064220"/>
                  </a:lnTo>
                  <a:lnTo>
                    <a:pt x="1694672" y="1904200"/>
                  </a:lnTo>
                  <a:lnTo>
                    <a:pt x="1694672" y="160020"/>
                  </a:lnTo>
                  <a:lnTo>
                    <a:pt x="1534652" y="0"/>
                  </a:lnTo>
                  <a:close/>
                </a:path>
              </a:pathLst>
            </a:custGeom>
            <a:blipFill>
              <a:blip r:embed="rId7"/>
              <a:stretch>
                <a:fillRect l="-17413" t="0" r="-65754" b="0"/>
              </a:stretch>
            </a:blipFill>
          </p:spPr>
        </p:sp>
      </p:grpSp>
      <p:sp>
        <p:nvSpPr>
          <p:cNvPr name="TextBox 18" id="18"/>
          <p:cNvSpPr txBox="true"/>
          <p:nvPr/>
        </p:nvSpPr>
        <p:spPr>
          <a:xfrm rot="0">
            <a:off x="3313620" y="2488740"/>
            <a:ext cx="11660759" cy="1318099"/>
          </a:xfrm>
          <a:prstGeom prst="rect">
            <a:avLst/>
          </a:prstGeom>
        </p:spPr>
        <p:txBody>
          <a:bodyPr anchor="t" rtlCol="false" tIns="0" lIns="0" bIns="0" rIns="0">
            <a:spAutoFit/>
          </a:bodyPr>
          <a:lstStyle/>
          <a:p>
            <a:pPr algn="ctr">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PROBLEM</a:t>
            </a:r>
          </a:p>
        </p:txBody>
      </p:sp>
      <p:sp>
        <p:nvSpPr>
          <p:cNvPr name="Freeform 19" id="19"/>
          <p:cNvSpPr/>
          <p:nvPr/>
        </p:nvSpPr>
        <p:spPr>
          <a:xfrm flipH="false" flipV="false" rot="0">
            <a:off x="3118875" y="2778865"/>
            <a:ext cx="271411" cy="280594"/>
          </a:xfrm>
          <a:custGeom>
            <a:avLst/>
            <a:gdLst/>
            <a:ahLst/>
            <a:cxnLst/>
            <a:rect r="r" b="b" t="t" l="l"/>
            <a:pathLst>
              <a:path h="280594" w="271411">
                <a:moveTo>
                  <a:pt x="0" y="0"/>
                </a:moveTo>
                <a:lnTo>
                  <a:pt x="271411" y="0"/>
                </a:lnTo>
                <a:lnTo>
                  <a:pt x="271411" y="280594"/>
                </a:lnTo>
                <a:lnTo>
                  <a:pt x="0" y="2805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0" id="20"/>
          <p:cNvSpPr txBox="true"/>
          <p:nvPr/>
        </p:nvSpPr>
        <p:spPr>
          <a:xfrm rot="0">
            <a:off x="6716038" y="705164"/>
            <a:ext cx="905580" cy="172920"/>
          </a:xfrm>
          <a:prstGeom prst="rect">
            <a:avLst/>
          </a:prstGeom>
        </p:spPr>
        <p:txBody>
          <a:bodyPr anchor="t" rtlCol="false" tIns="0" lIns="0" bIns="0" rIns="0">
            <a:spAutoFit/>
          </a:bodyPr>
          <a:lstStyle/>
          <a:p>
            <a:pPr algn="ctr">
              <a:lnSpc>
                <a:spcPts val="1218"/>
              </a:lnSpc>
            </a:pPr>
            <a:r>
              <a:rPr lang="en-US" b="true" sz="1400" spc="-53">
                <a:solidFill>
                  <a:srgbClr val="5CE6E2"/>
                </a:solidFill>
                <a:latin typeface="Open Sauce Bold"/>
                <a:ea typeface="Open Sauce Bold"/>
                <a:cs typeface="Open Sauce Bold"/>
                <a:sym typeface="Open Sauce Bold"/>
              </a:rPr>
              <a:t>Home</a:t>
            </a:r>
          </a:p>
        </p:txBody>
      </p:sp>
      <p:sp>
        <p:nvSpPr>
          <p:cNvPr name="TextBox 21" id="21"/>
          <p:cNvSpPr txBox="true"/>
          <p:nvPr/>
        </p:nvSpPr>
        <p:spPr>
          <a:xfrm rot="0">
            <a:off x="7954136" y="705164"/>
            <a:ext cx="1030057"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Services</a:t>
            </a:r>
          </a:p>
        </p:txBody>
      </p:sp>
      <p:sp>
        <p:nvSpPr>
          <p:cNvPr name="TextBox 22" id="22"/>
          <p:cNvSpPr txBox="true"/>
          <p:nvPr/>
        </p:nvSpPr>
        <p:spPr>
          <a:xfrm rot="0">
            <a:off x="5430196" y="4665660"/>
            <a:ext cx="7822059" cy="4000500"/>
          </a:xfrm>
          <a:prstGeom prst="rect">
            <a:avLst/>
          </a:prstGeom>
        </p:spPr>
        <p:txBody>
          <a:bodyPr anchor="t" rtlCol="false" tIns="0" lIns="0" bIns="0" rIns="0">
            <a:spAutoFit/>
          </a:bodyPr>
          <a:lstStyle/>
          <a:p>
            <a:pPr algn="ctr">
              <a:lnSpc>
                <a:spcPts val="2159"/>
              </a:lnSpc>
            </a:pPr>
            <a:r>
              <a:rPr lang="en-US" b="true" sz="1799" spc="-68">
                <a:gradFill>
                  <a:gsLst>
                    <a:gs pos="0">
                      <a:srgbClr val="CDFFD8">
                        <a:alpha val="100000"/>
                      </a:srgbClr>
                    </a:gs>
                    <a:gs pos="100000">
                      <a:srgbClr val="94B9FF">
                        <a:alpha val="100000"/>
                      </a:srgbClr>
                    </a:gs>
                  </a:gsLst>
                  <a:lin ang="0"/>
                </a:gradFill>
                <a:latin typeface="Open Sauce Bold"/>
                <a:ea typeface="Open Sauce Bold"/>
                <a:cs typeface="Open Sauce Bold"/>
                <a:sym typeface="Open Sauce Bold"/>
              </a:rPr>
              <a:t>Air pollution is a major environmental issue that affects public health. High levels of pollutants such as PM2.5, PM10, NO₂, SO₂, and CO increase the risk of respiratory and heart diseases.</a:t>
            </a:r>
          </a:p>
          <a:p>
            <a:pPr algn="ctr">
              <a:lnSpc>
                <a:spcPts val="2159"/>
              </a:lnSpc>
            </a:pPr>
          </a:p>
          <a:p>
            <a:pPr algn="ctr">
              <a:lnSpc>
                <a:spcPts val="2159"/>
              </a:lnSpc>
            </a:pPr>
            <a:r>
              <a:rPr lang="en-US" b="true" sz="1799" spc="-68">
                <a:gradFill>
                  <a:gsLst>
                    <a:gs pos="0">
                      <a:srgbClr val="CDFFD8">
                        <a:alpha val="100000"/>
                      </a:srgbClr>
                    </a:gs>
                    <a:gs pos="100000">
                      <a:srgbClr val="94B9FF">
                        <a:alpha val="100000"/>
                      </a:srgbClr>
                    </a:gs>
                  </a:gsLst>
                  <a:lin ang="0"/>
                </a:gradFill>
                <a:latin typeface="Open Sauce Bold"/>
                <a:ea typeface="Open Sauce Bold"/>
                <a:cs typeface="Open Sauce Bold"/>
                <a:sym typeface="Open Sauce Bold"/>
              </a:rPr>
              <a:t>Understanding how environmental factors (temperature, humidity, population density, industrial areas, etc.) influence air quality is challenging, and raw measurements alone are hard to interpret.</a:t>
            </a:r>
          </a:p>
          <a:p>
            <a:pPr algn="ctr">
              <a:lnSpc>
                <a:spcPts val="2159"/>
              </a:lnSpc>
            </a:pPr>
          </a:p>
          <a:p>
            <a:pPr algn="ctr">
              <a:lnSpc>
                <a:spcPts val="2159"/>
              </a:lnSpc>
            </a:pPr>
            <a:r>
              <a:rPr lang="en-US" sz="1799" spc="-68">
                <a:gradFill>
                  <a:gsLst>
                    <a:gs pos="0">
                      <a:srgbClr val="CDFFD8">
                        <a:alpha val="100000"/>
                      </a:srgbClr>
                    </a:gs>
                    <a:gs pos="100000">
                      <a:srgbClr val="94B9FF">
                        <a:alpha val="100000"/>
                      </a:srgbClr>
                    </a:gs>
                  </a:gsLst>
                  <a:lin ang="0"/>
                </a:gradFill>
                <a:latin typeface="Open Sauce"/>
                <a:ea typeface="Open Sauce"/>
                <a:cs typeface="Open Sauce"/>
                <a:sym typeface="Open Sauce"/>
              </a:rPr>
              <a:t>Our </a:t>
            </a:r>
            <a:r>
              <a:rPr lang="en-US" b="true" sz="1799" spc="-68">
                <a:gradFill>
                  <a:gsLst>
                    <a:gs pos="0">
                      <a:srgbClr val="CDFFD8">
                        <a:alpha val="100000"/>
                      </a:srgbClr>
                    </a:gs>
                    <a:gs pos="100000">
                      <a:srgbClr val="94B9FF">
                        <a:alpha val="100000"/>
                      </a:srgbClr>
                    </a:gs>
                  </a:gsLst>
                  <a:lin ang="0"/>
                </a:gradFill>
                <a:latin typeface="Open Sauce Bold"/>
                <a:ea typeface="Open Sauce Bold"/>
                <a:cs typeface="Open Sauce Bold"/>
                <a:sym typeface="Open Sauce Bold"/>
              </a:rPr>
              <a:t>project aims to analyze air quality data to:</a:t>
            </a:r>
          </a:p>
          <a:p>
            <a:pPr algn="ctr">
              <a:lnSpc>
                <a:spcPts val="2159"/>
              </a:lnSpc>
            </a:pPr>
          </a:p>
          <a:p>
            <a:pPr algn="ctr" marL="388618" indent="-194309" lvl="1">
              <a:lnSpc>
                <a:spcPts val="2159"/>
              </a:lnSpc>
              <a:buFont typeface="Arial"/>
              <a:buChar char="•"/>
            </a:pPr>
            <a:r>
              <a:rPr lang="en-US" b="true" sz="1799" spc="-68">
                <a:gradFill>
                  <a:gsLst>
                    <a:gs pos="0">
                      <a:srgbClr val="CDFFD8">
                        <a:alpha val="100000"/>
                      </a:srgbClr>
                    </a:gs>
                    <a:gs pos="100000">
                      <a:srgbClr val="94B9FF">
                        <a:alpha val="100000"/>
                      </a:srgbClr>
                    </a:gs>
                  </a:gsLst>
                  <a:lin ang="0"/>
                </a:gradFill>
                <a:latin typeface="Open Sauce Bold"/>
                <a:ea typeface="Open Sauce Bold"/>
                <a:cs typeface="Open Sauce Bold"/>
                <a:sym typeface="Open Sauce Bold"/>
              </a:rPr>
              <a:t>Identify the key factors affecting air quality</a:t>
            </a:r>
          </a:p>
          <a:p>
            <a:pPr algn="ctr" marL="388618" indent="-194309" lvl="1">
              <a:lnSpc>
                <a:spcPts val="2159"/>
              </a:lnSpc>
              <a:buFont typeface="Arial"/>
              <a:buChar char="•"/>
            </a:pPr>
            <a:r>
              <a:rPr lang="en-US" b="true" sz="1799" spc="-68">
                <a:gradFill>
                  <a:gsLst>
                    <a:gs pos="0">
                      <a:srgbClr val="CDFFD8">
                        <a:alpha val="100000"/>
                      </a:srgbClr>
                    </a:gs>
                    <a:gs pos="100000">
                      <a:srgbClr val="94B9FF">
                        <a:alpha val="100000"/>
                      </a:srgbClr>
                    </a:gs>
                  </a:gsLst>
                  <a:lin ang="0"/>
                </a:gradFill>
                <a:latin typeface="Open Sauce Bold"/>
                <a:ea typeface="Open Sauce Bold"/>
                <a:cs typeface="Open Sauce Bold"/>
                <a:sym typeface="Open Sauce Bold"/>
              </a:rPr>
              <a:t>Compare pollution levels across different locations</a:t>
            </a:r>
          </a:p>
          <a:p>
            <a:pPr algn="ctr" marL="388618" indent="-194309" lvl="1">
              <a:lnSpc>
                <a:spcPts val="2159"/>
              </a:lnSpc>
              <a:buFont typeface="Arial"/>
              <a:buChar char="•"/>
            </a:pPr>
            <a:r>
              <a:rPr lang="en-US" b="true" sz="1799" spc="-68">
                <a:gradFill>
                  <a:gsLst>
                    <a:gs pos="0">
                      <a:srgbClr val="CDFFD8">
                        <a:alpha val="100000"/>
                      </a:srgbClr>
                    </a:gs>
                    <a:gs pos="100000">
                      <a:srgbClr val="94B9FF">
                        <a:alpha val="100000"/>
                      </a:srgbClr>
                    </a:gs>
                  </a:gsLst>
                  <a:lin ang="0"/>
                </a:gradFill>
                <a:latin typeface="Open Sauce Bold"/>
                <a:ea typeface="Open Sauce Bold"/>
                <a:cs typeface="Open Sauce Bold"/>
                <a:sym typeface="Open Sauce Bold"/>
              </a:rPr>
              <a:t>Enable better classification and clustering of air quality level</a:t>
            </a:r>
          </a:p>
          <a:p>
            <a:pPr algn="ctr">
              <a:lnSpc>
                <a:spcPts val="2159"/>
              </a:lnSpc>
            </a:pPr>
          </a:p>
          <a:p>
            <a:pPr algn="ctr">
              <a:lnSpc>
                <a:spcPts val="2159"/>
              </a:lnSpc>
            </a:pPr>
          </a:p>
        </p:txBody>
      </p:sp>
      <p:sp>
        <p:nvSpPr>
          <p:cNvPr name="Freeform 23" id="23"/>
          <p:cNvSpPr/>
          <p:nvPr/>
        </p:nvSpPr>
        <p:spPr>
          <a:xfrm flipH="false" flipV="false" rot="0">
            <a:off x="14897714" y="2778865"/>
            <a:ext cx="271411" cy="280594"/>
          </a:xfrm>
          <a:custGeom>
            <a:avLst/>
            <a:gdLst/>
            <a:ahLst/>
            <a:cxnLst/>
            <a:rect r="r" b="b" t="t" l="l"/>
            <a:pathLst>
              <a:path h="280594" w="271411">
                <a:moveTo>
                  <a:pt x="0" y="0"/>
                </a:moveTo>
                <a:lnTo>
                  <a:pt x="271411" y="0"/>
                </a:lnTo>
                <a:lnTo>
                  <a:pt x="271411" y="280594"/>
                </a:lnTo>
                <a:lnTo>
                  <a:pt x="0" y="2805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grpSp>
        <p:nvGrpSpPr>
          <p:cNvPr name="Group 4" id="4"/>
          <p:cNvGrpSpPr/>
          <p:nvPr/>
        </p:nvGrpSpPr>
        <p:grpSpPr>
          <a:xfrm rot="0">
            <a:off x="7168828" y="3559591"/>
            <a:ext cx="5747197" cy="6338596"/>
            <a:chOff x="0" y="0"/>
            <a:chExt cx="4509689" cy="4973746"/>
          </a:xfrm>
        </p:grpSpPr>
        <p:sp>
          <p:nvSpPr>
            <p:cNvPr name="Freeform 5" id="5"/>
            <p:cNvSpPr/>
            <p:nvPr/>
          </p:nvSpPr>
          <p:spPr>
            <a:xfrm flipH="false" flipV="false" rot="0">
              <a:off x="0" y="0"/>
              <a:ext cx="4509689" cy="4973746"/>
            </a:xfrm>
            <a:custGeom>
              <a:avLst/>
              <a:gdLst/>
              <a:ahLst/>
              <a:cxnLst/>
              <a:rect r="r" b="b" t="t" l="l"/>
              <a:pathLst>
                <a:path h="4973746" w="4509689">
                  <a:moveTo>
                    <a:pt x="4271564" y="0"/>
                  </a:moveTo>
                  <a:lnTo>
                    <a:pt x="4509689" y="238125"/>
                  </a:lnTo>
                  <a:lnTo>
                    <a:pt x="4509689" y="4735621"/>
                  </a:lnTo>
                  <a:lnTo>
                    <a:pt x="4271564" y="4973746"/>
                  </a:lnTo>
                  <a:lnTo>
                    <a:pt x="238125" y="4973746"/>
                  </a:lnTo>
                  <a:lnTo>
                    <a:pt x="0" y="4735621"/>
                  </a:lnTo>
                  <a:lnTo>
                    <a:pt x="0" y="238125"/>
                  </a:lnTo>
                  <a:lnTo>
                    <a:pt x="238125" y="0"/>
                  </a:lnTo>
                  <a:lnTo>
                    <a:pt x="4271564" y="0"/>
                  </a:lnTo>
                  <a:close/>
                </a:path>
              </a:pathLst>
            </a:custGeom>
            <a:solidFill>
              <a:srgbClr val="031A25"/>
            </a:solidFill>
            <a:ln w="9525" cap="sq">
              <a:solidFill>
                <a:srgbClr val="5CE6E2"/>
              </a:solidFill>
              <a:prstDash val="solid"/>
              <a:miter/>
            </a:ln>
          </p:spPr>
        </p:sp>
        <p:sp>
          <p:nvSpPr>
            <p:cNvPr name="TextBox 6" id="6"/>
            <p:cNvSpPr txBox="true"/>
            <p:nvPr/>
          </p:nvSpPr>
          <p:spPr>
            <a:xfrm>
              <a:off x="63500" y="101600"/>
              <a:ext cx="4382689" cy="4808646"/>
            </a:xfrm>
            <a:prstGeom prst="rect">
              <a:avLst/>
            </a:prstGeom>
          </p:spPr>
          <p:txBody>
            <a:bodyPr anchor="ctr" rtlCol="false" tIns="50800" lIns="50800" bIns="50800" rIns="50800"/>
            <a:lstStyle/>
            <a:p>
              <a:pPr algn="ctr">
                <a:lnSpc>
                  <a:spcPts val="1218"/>
                </a:lnSpc>
              </a:pPr>
            </a:p>
          </p:txBody>
        </p:sp>
      </p:grpSp>
      <p:grpSp>
        <p:nvGrpSpPr>
          <p:cNvPr name="Group 7" id="7"/>
          <p:cNvGrpSpPr/>
          <p:nvPr/>
        </p:nvGrpSpPr>
        <p:grpSpPr>
          <a:xfrm rot="0">
            <a:off x="15944466" y="2781959"/>
            <a:ext cx="4687068" cy="8319777"/>
            <a:chOff x="0" y="0"/>
            <a:chExt cx="3459611" cy="6140980"/>
          </a:xfrm>
        </p:grpSpPr>
        <p:sp>
          <p:nvSpPr>
            <p:cNvPr name="Freeform 8" id="8"/>
            <p:cNvSpPr/>
            <p:nvPr/>
          </p:nvSpPr>
          <p:spPr>
            <a:xfrm flipH="false" flipV="false" rot="0">
              <a:off x="0" y="0"/>
              <a:ext cx="3459611" cy="6140980"/>
            </a:xfrm>
            <a:custGeom>
              <a:avLst/>
              <a:gdLst/>
              <a:ahLst/>
              <a:cxnLst/>
              <a:rect r="r" b="b" t="t" l="l"/>
              <a:pathLst>
                <a:path h="6140980" w="3459611">
                  <a:moveTo>
                    <a:pt x="3221486" y="0"/>
                  </a:moveTo>
                  <a:lnTo>
                    <a:pt x="3459611" y="238125"/>
                  </a:lnTo>
                  <a:lnTo>
                    <a:pt x="3459611" y="5902855"/>
                  </a:lnTo>
                  <a:lnTo>
                    <a:pt x="3221486" y="6140980"/>
                  </a:lnTo>
                  <a:lnTo>
                    <a:pt x="238125" y="6140980"/>
                  </a:lnTo>
                  <a:lnTo>
                    <a:pt x="0" y="5902855"/>
                  </a:lnTo>
                  <a:lnTo>
                    <a:pt x="0" y="238125"/>
                  </a:lnTo>
                  <a:lnTo>
                    <a:pt x="238125" y="0"/>
                  </a:lnTo>
                  <a:lnTo>
                    <a:pt x="3221486" y="0"/>
                  </a:lnTo>
                  <a:close/>
                </a:path>
              </a:pathLst>
            </a:custGeom>
            <a:solidFill>
              <a:srgbClr val="031A25"/>
            </a:solidFill>
            <a:ln w="9525" cap="sq">
              <a:solidFill>
                <a:srgbClr val="5CE6E2"/>
              </a:solidFill>
              <a:prstDash val="solid"/>
              <a:miter/>
            </a:ln>
          </p:spPr>
        </p:sp>
        <p:sp>
          <p:nvSpPr>
            <p:cNvPr name="TextBox 9" id="9"/>
            <p:cNvSpPr txBox="true"/>
            <p:nvPr/>
          </p:nvSpPr>
          <p:spPr>
            <a:xfrm>
              <a:off x="63500" y="101600"/>
              <a:ext cx="3332611" cy="5975880"/>
            </a:xfrm>
            <a:prstGeom prst="rect">
              <a:avLst/>
            </a:prstGeom>
          </p:spPr>
          <p:txBody>
            <a:bodyPr anchor="ctr" rtlCol="false" tIns="50800" lIns="50800" bIns="50800" rIns="50800"/>
            <a:lstStyle/>
            <a:p>
              <a:pPr algn="ctr">
                <a:lnSpc>
                  <a:spcPts val="1218"/>
                </a:lnSpc>
              </a:pPr>
            </a:p>
          </p:txBody>
        </p:sp>
      </p:grpSp>
      <p:grpSp>
        <p:nvGrpSpPr>
          <p:cNvPr name="Group 10" id="10"/>
          <p:cNvGrpSpPr/>
          <p:nvPr/>
        </p:nvGrpSpPr>
        <p:grpSpPr>
          <a:xfrm rot="0">
            <a:off x="-2343534" y="2778865"/>
            <a:ext cx="4687068" cy="8465730"/>
            <a:chOff x="0" y="0"/>
            <a:chExt cx="3459611" cy="6248711"/>
          </a:xfrm>
        </p:grpSpPr>
        <p:sp>
          <p:nvSpPr>
            <p:cNvPr name="Freeform 11" id="11"/>
            <p:cNvSpPr/>
            <p:nvPr/>
          </p:nvSpPr>
          <p:spPr>
            <a:xfrm flipH="false" flipV="false" rot="0">
              <a:off x="0" y="0"/>
              <a:ext cx="3459611" cy="6248710"/>
            </a:xfrm>
            <a:custGeom>
              <a:avLst/>
              <a:gdLst/>
              <a:ahLst/>
              <a:cxnLst/>
              <a:rect r="r" b="b" t="t" l="l"/>
              <a:pathLst>
                <a:path h="6248710" w="3459611">
                  <a:moveTo>
                    <a:pt x="3221486" y="0"/>
                  </a:moveTo>
                  <a:lnTo>
                    <a:pt x="3459611" y="238125"/>
                  </a:lnTo>
                  <a:lnTo>
                    <a:pt x="3459611" y="6010585"/>
                  </a:lnTo>
                  <a:lnTo>
                    <a:pt x="3221486" y="6248710"/>
                  </a:lnTo>
                  <a:lnTo>
                    <a:pt x="238125" y="6248710"/>
                  </a:lnTo>
                  <a:lnTo>
                    <a:pt x="0" y="6010585"/>
                  </a:lnTo>
                  <a:lnTo>
                    <a:pt x="0" y="238125"/>
                  </a:lnTo>
                  <a:lnTo>
                    <a:pt x="238125" y="0"/>
                  </a:lnTo>
                  <a:lnTo>
                    <a:pt x="3221486" y="0"/>
                  </a:lnTo>
                  <a:close/>
                </a:path>
              </a:pathLst>
            </a:custGeom>
            <a:solidFill>
              <a:srgbClr val="031A25"/>
            </a:solidFill>
            <a:ln w="9525" cap="sq">
              <a:solidFill>
                <a:srgbClr val="5CE6E2"/>
              </a:solidFill>
              <a:prstDash val="solid"/>
              <a:miter/>
            </a:ln>
          </p:spPr>
        </p:sp>
        <p:sp>
          <p:nvSpPr>
            <p:cNvPr name="TextBox 12" id="12"/>
            <p:cNvSpPr txBox="true"/>
            <p:nvPr/>
          </p:nvSpPr>
          <p:spPr>
            <a:xfrm>
              <a:off x="63500" y="101600"/>
              <a:ext cx="3332611" cy="6083611"/>
            </a:xfrm>
            <a:prstGeom prst="rect">
              <a:avLst/>
            </a:prstGeom>
          </p:spPr>
          <p:txBody>
            <a:bodyPr anchor="ctr" rtlCol="false" tIns="50800" lIns="50800" bIns="50800" rIns="50800"/>
            <a:lstStyle/>
            <a:p>
              <a:pPr algn="ctr">
                <a:lnSpc>
                  <a:spcPts val="1218"/>
                </a:lnSpc>
              </a:pPr>
            </a:p>
          </p:txBody>
        </p:sp>
      </p:grpSp>
      <p:grpSp>
        <p:nvGrpSpPr>
          <p:cNvPr name="Group 13" id="13"/>
          <p:cNvGrpSpPr/>
          <p:nvPr/>
        </p:nvGrpSpPr>
        <p:grpSpPr>
          <a:xfrm rot="0">
            <a:off x="1028700" y="4310193"/>
            <a:ext cx="4062271" cy="4948107"/>
            <a:chOff x="0" y="0"/>
            <a:chExt cx="1694672" cy="2064220"/>
          </a:xfrm>
        </p:grpSpPr>
        <p:sp>
          <p:nvSpPr>
            <p:cNvPr name="Freeform 14" id="14"/>
            <p:cNvSpPr/>
            <p:nvPr/>
          </p:nvSpPr>
          <p:spPr>
            <a:xfrm flipH="false" flipV="false" rot="0">
              <a:off x="0" y="0"/>
              <a:ext cx="1694672" cy="2064220"/>
            </a:xfrm>
            <a:custGeom>
              <a:avLst/>
              <a:gdLst/>
              <a:ahLst/>
              <a:cxnLst/>
              <a:rect r="r" b="b" t="t" l="l"/>
              <a:pathLst>
                <a:path h="2064220" w="1694672">
                  <a:moveTo>
                    <a:pt x="1534652" y="0"/>
                  </a:moveTo>
                  <a:lnTo>
                    <a:pt x="160020" y="0"/>
                  </a:lnTo>
                  <a:lnTo>
                    <a:pt x="0" y="160020"/>
                  </a:lnTo>
                  <a:lnTo>
                    <a:pt x="0" y="1904200"/>
                  </a:lnTo>
                  <a:lnTo>
                    <a:pt x="160020" y="2064220"/>
                  </a:lnTo>
                  <a:lnTo>
                    <a:pt x="1534652" y="2064220"/>
                  </a:lnTo>
                  <a:lnTo>
                    <a:pt x="1694672" y="1904200"/>
                  </a:lnTo>
                  <a:lnTo>
                    <a:pt x="1694672" y="160020"/>
                  </a:lnTo>
                  <a:lnTo>
                    <a:pt x="1534652" y="0"/>
                  </a:lnTo>
                  <a:close/>
                </a:path>
              </a:pathLst>
            </a:custGeom>
            <a:blipFill>
              <a:blip r:embed="rId4"/>
              <a:stretch>
                <a:fillRect l="-17413" t="0" r="-65754" b="0"/>
              </a:stretch>
            </a:blipFill>
          </p:spPr>
        </p:sp>
      </p:grpSp>
      <p:sp>
        <p:nvSpPr>
          <p:cNvPr name="TextBox 15" id="15"/>
          <p:cNvSpPr txBox="true"/>
          <p:nvPr/>
        </p:nvSpPr>
        <p:spPr>
          <a:xfrm rot="0">
            <a:off x="1773233" y="2431590"/>
            <a:ext cx="14741533" cy="1128001"/>
          </a:xfrm>
          <a:prstGeom prst="rect">
            <a:avLst/>
          </a:prstGeom>
        </p:spPr>
        <p:txBody>
          <a:bodyPr anchor="t" rtlCol="false" tIns="0" lIns="0" bIns="0" rIns="0">
            <a:spAutoFit/>
          </a:bodyPr>
          <a:lstStyle/>
          <a:p>
            <a:pPr algn="ctr">
              <a:lnSpc>
                <a:spcPts val="7859"/>
              </a:lnSpc>
            </a:pPr>
            <a:r>
              <a:rPr lang="en-US" b="true" sz="10075" spc="-836">
                <a:solidFill>
                  <a:srgbClr val="5CE6E2"/>
                </a:solidFill>
                <a:latin typeface="Bricolage Grotesque Medium"/>
                <a:ea typeface="Bricolage Grotesque Medium"/>
                <a:cs typeface="Bricolage Grotesque Medium"/>
                <a:sym typeface="Bricolage Grotesque Medium"/>
              </a:rPr>
              <a:t>DATASET DESCRIPTION</a:t>
            </a:r>
          </a:p>
        </p:txBody>
      </p:sp>
      <p:sp>
        <p:nvSpPr>
          <p:cNvPr name="Freeform 16" id="16"/>
          <p:cNvSpPr/>
          <p:nvPr/>
        </p:nvSpPr>
        <p:spPr>
          <a:xfrm flipH="false" flipV="false" rot="0">
            <a:off x="3118875" y="2778865"/>
            <a:ext cx="271411" cy="280594"/>
          </a:xfrm>
          <a:custGeom>
            <a:avLst/>
            <a:gdLst/>
            <a:ahLst/>
            <a:cxnLst/>
            <a:rect r="r" b="b" t="t" l="l"/>
            <a:pathLst>
              <a:path h="280594" w="271411">
                <a:moveTo>
                  <a:pt x="0" y="0"/>
                </a:moveTo>
                <a:lnTo>
                  <a:pt x="271411" y="0"/>
                </a:lnTo>
                <a:lnTo>
                  <a:pt x="271411" y="280594"/>
                </a:lnTo>
                <a:lnTo>
                  <a:pt x="0" y="2805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6716038" y="705164"/>
            <a:ext cx="905580" cy="172920"/>
          </a:xfrm>
          <a:prstGeom prst="rect">
            <a:avLst/>
          </a:prstGeom>
        </p:spPr>
        <p:txBody>
          <a:bodyPr anchor="t" rtlCol="false" tIns="0" lIns="0" bIns="0" rIns="0">
            <a:spAutoFit/>
          </a:bodyPr>
          <a:lstStyle/>
          <a:p>
            <a:pPr algn="ctr">
              <a:lnSpc>
                <a:spcPts val="1218"/>
              </a:lnSpc>
            </a:pPr>
            <a:r>
              <a:rPr lang="en-US" b="true" sz="1400" spc="-53">
                <a:solidFill>
                  <a:srgbClr val="5CE6E2"/>
                </a:solidFill>
                <a:latin typeface="Open Sauce Bold"/>
                <a:ea typeface="Open Sauce Bold"/>
                <a:cs typeface="Open Sauce Bold"/>
                <a:sym typeface="Open Sauce Bold"/>
              </a:rPr>
              <a:t>Home</a:t>
            </a:r>
          </a:p>
        </p:txBody>
      </p:sp>
      <p:sp>
        <p:nvSpPr>
          <p:cNvPr name="TextBox 18" id="18"/>
          <p:cNvSpPr txBox="true"/>
          <p:nvPr/>
        </p:nvSpPr>
        <p:spPr>
          <a:xfrm rot="0">
            <a:off x="7954136" y="705164"/>
            <a:ext cx="1030057"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Services</a:t>
            </a:r>
          </a:p>
        </p:txBody>
      </p:sp>
      <p:sp>
        <p:nvSpPr>
          <p:cNvPr name="TextBox 19" id="19"/>
          <p:cNvSpPr txBox="true"/>
          <p:nvPr/>
        </p:nvSpPr>
        <p:spPr>
          <a:xfrm rot="0">
            <a:off x="9316711" y="705164"/>
            <a:ext cx="1017153"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Solution</a:t>
            </a:r>
          </a:p>
        </p:txBody>
      </p:sp>
      <p:sp>
        <p:nvSpPr>
          <p:cNvPr name="TextBox 20" id="20"/>
          <p:cNvSpPr txBox="true"/>
          <p:nvPr/>
        </p:nvSpPr>
        <p:spPr>
          <a:xfrm rot="0">
            <a:off x="10666382" y="705164"/>
            <a:ext cx="905580"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About</a:t>
            </a:r>
          </a:p>
        </p:txBody>
      </p:sp>
      <p:sp>
        <p:nvSpPr>
          <p:cNvPr name="TextBox 21" id="21"/>
          <p:cNvSpPr txBox="true"/>
          <p:nvPr/>
        </p:nvSpPr>
        <p:spPr>
          <a:xfrm rot="0">
            <a:off x="7304610" y="4283491"/>
            <a:ext cx="4881424" cy="590550"/>
          </a:xfrm>
          <a:prstGeom prst="rect">
            <a:avLst/>
          </a:prstGeom>
        </p:spPr>
        <p:txBody>
          <a:bodyPr anchor="t" rtlCol="false" tIns="0" lIns="0" bIns="0" rIns="0">
            <a:spAutoFit/>
          </a:bodyPr>
          <a:lstStyle/>
          <a:p>
            <a:pPr algn="ctr">
              <a:lnSpc>
                <a:spcPts val="2351"/>
              </a:lnSpc>
            </a:pPr>
            <a:r>
              <a:rPr lang="en-US" b="true" sz="1959" spc="-74">
                <a:solidFill>
                  <a:srgbClr val="5CE6E2"/>
                </a:solidFill>
                <a:latin typeface="Open Sauce Bold"/>
                <a:ea typeface="Open Sauce Bold"/>
                <a:cs typeface="Open Sauce Bold"/>
                <a:sym typeface="Open Sauce Bold"/>
              </a:rPr>
              <a:t>Dataset Source: Kaggle —Air Quality and pollution Assessment Dataset</a:t>
            </a:r>
          </a:p>
        </p:txBody>
      </p:sp>
      <p:sp>
        <p:nvSpPr>
          <p:cNvPr name="TextBox 22" id="22"/>
          <p:cNvSpPr txBox="true"/>
          <p:nvPr/>
        </p:nvSpPr>
        <p:spPr>
          <a:xfrm rot="0">
            <a:off x="7543080" y="6462189"/>
            <a:ext cx="4564416" cy="266700"/>
          </a:xfrm>
          <a:prstGeom prst="rect">
            <a:avLst/>
          </a:prstGeom>
        </p:spPr>
        <p:txBody>
          <a:bodyPr anchor="t" rtlCol="false" tIns="0" lIns="0" bIns="0" rIns="0">
            <a:spAutoFit/>
          </a:bodyPr>
          <a:lstStyle/>
          <a:p>
            <a:pPr algn="ctr">
              <a:lnSpc>
                <a:spcPts val="2159"/>
              </a:lnSpc>
            </a:pPr>
            <a:r>
              <a:rPr lang="en-US" b="true" sz="1799" spc="-68">
                <a:solidFill>
                  <a:srgbClr val="5CE6E2"/>
                </a:solidFill>
                <a:latin typeface="Open Sauce Bold"/>
                <a:ea typeface="Open Sauce Bold"/>
                <a:cs typeface="Open Sauce Bold"/>
                <a:sym typeface="Open Sauce Bold"/>
              </a:rPr>
              <a:t>Number of Records:  5000</a:t>
            </a:r>
          </a:p>
        </p:txBody>
      </p:sp>
      <p:sp>
        <p:nvSpPr>
          <p:cNvPr name="Freeform 23" id="23"/>
          <p:cNvSpPr/>
          <p:nvPr/>
        </p:nvSpPr>
        <p:spPr>
          <a:xfrm flipH="false" flipV="false" rot="0">
            <a:off x="14897714" y="2778865"/>
            <a:ext cx="271411" cy="280594"/>
          </a:xfrm>
          <a:custGeom>
            <a:avLst/>
            <a:gdLst/>
            <a:ahLst/>
            <a:cxnLst/>
            <a:rect r="r" b="b" t="t" l="l"/>
            <a:pathLst>
              <a:path h="280594" w="271411">
                <a:moveTo>
                  <a:pt x="0" y="0"/>
                </a:moveTo>
                <a:lnTo>
                  <a:pt x="271411" y="0"/>
                </a:lnTo>
                <a:lnTo>
                  <a:pt x="271411" y="280594"/>
                </a:lnTo>
                <a:lnTo>
                  <a:pt x="0" y="2805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4" id="24"/>
          <p:cNvSpPr txBox="true"/>
          <p:nvPr/>
        </p:nvSpPr>
        <p:spPr>
          <a:xfrm rot="0">
            <a:off x="7621618" y="5597941"/>
            <a:ext cx="4564416" cy="266700"/>
          </a:xfrm>
          <a:prstGeom prst="rect">
            <a:avLst/>
          </a:prstGeom>
        </p:spPr>
        <p:txBody>
          <a:bodyPr anchor="t" rtlCol="false" tIns="0" lIns="0" bIns="0" rIns="0">
            <a:spAutoFit/>
          </a:bodyPr>
          <a:lstStyle/>
          <a:p>
            <a:pPr algn="ctr">
              <a:lnSpc>
                <a:spcPts val="2159"/>
              </a:lnSpc>
            </a:pPr>
            <a:r>
              <a:rPr lang="en-US" b="true" sz="1799" spc="-68">
                <a:solidFill>
                  <a:srgbClr val="5CE6E2"/>
                </a:solidFill>
                <a:latin typeface="Open Sauce Bold"/>
                <a:ea typeface="Open Sauce Bold"/>
                <a:cs typeface="Open Sauce Bold"/>
                <a:sym typeface="Open Sauce Bold"/>
              </a:rPr>
              <a:t>Number of Attributes: 9 attributes </a:t>
            </a:r>
          </a:p>
        </p:txBody>
      </p:sp>
      <p:sp>
        <p:nvSpPr>
          <p:cNvPr name="TextBox 25" id="25"/>
          <p:cNvSpPr txBox="true"/>
          <p:nvPr/>
        </p:nvSpPr>
        <p:spPr>
          <a:xfrm rot="0">
            <a:off x="7408981" y="7328964"/>
            <a:ext cx="5266892" cy="1333500"/>
          </a:xfrm>
          <a:prstGeom prst="rect">
            <a:avLst/>
          </a:prstGeom>
        </p:spPr>
        <p:txBody>
          <a:bodyPr anchor="t" rtlCol="false" tIns="0" lIns="0" bIns="0" rIns="0">
            <a:spAutoFit/>
          </a:bodyPr>
          <a:lstStyle/>
          <a:p>
            <a:pPr algn="ctr">
              <a:lnSpc>
                <a:spcPts val="2159"/>
              </a:lnSpc>
            </a:pPr>
            <a:r>
              <a:rPr lang="en-US" b="true" sz="1799" spc="-68">
                <a:solidFill>
                  <a:srgbClr val="5CE6E2"/>
                </a:solidFill>
                <a:latin typeface="Open Sauce Bold"/>
                <a:ea typeface="Open Sauce Bold"/>
                <a:cs typeface="Open Sauce Bold"/>
                <a:sym typeface="Open Sauce Bold"/>
              </a:rPr>
              <a:t>our Attirbute: ['Temperature', 'Humidity', 'PM2.5', 'PM10', 'NO2', 'SO2', 'CO', 'Proximity_to_Industrial_Areas', 'Population_Density']</a:t>
            </a:r>
          </a:p>
          <a:p>
            <a:pPr algn="ctr">
              <a:lnSpc>
                <a:spcPts val="215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grpSp>
        <p:nvGrpSpPr>
          <p:cNvPr name="Group 4" id="4"/>
          <p:cNvGrpSpPr/>
          <p:nvPr/>
        </p:nvGrpSpPr>
        <p:grpSpPr>
          <a:xfrm rot="0">
            <a:off x="15944466" y="2781959"/>
            <a:ext cx="4687068" cy="8319777"/>
            <a:chOff x="0" y="0"/>
            <a:chExt cx="3459611" cy="6140980"/>
          </a:xfrm>
        </p:grpSpPr>
        <p:sp>
          <p:nvSpPr>
            <p:cNvPr name="Freeform 5" id="5"/>
            <p:cNvSpPr/>
            <p:nvPr/>
          </p:nvSpPr>
          <p:spPr>
            <a:xfrm flipH="false" flipV="false" rot="0">
              <a:off x="0" y="0"/>
              <a:ext cx="3459611" cy="6140980"/>
            </a:xfrm>
            <a:custGeom>
              <a:avLst/>
              <a:gdLst/>
              <a:ahLst/>
              <a:cxnLst/>
              <a:rect r="r" b="b" t="t" l="l"/>
              <a:pathLst>
                <a:path h="6140980" w="3459611">
                  <a:moveTo>
                    <a:pt x="3221486" y="0"/>
                  </a:moveTo>
                  <a:lnTo>
                    <a:pt x="3459611" y="238125"/>
                  </a:lnTo>
                  <a:lnTo>
                    <a:pt x="3459611" y="5902855"/>
                  </a:lnTo>
                  <a:lnTo>
                    <a:pt x="3221486" y="6140980"/>
                  </a:lnTo>
                  <a:lnTo>
                    <a:pt x="238125" y="6140980"/>
                  </a:lnTo>
                  <a:lnTo>
                    <a:pt x="0" y="5902855"/>
                  </a:lnTo>
                  <a:lnTo>
                    <a:pt x="0" y="238125"/>
                  </a:lnTo>
                  <a:lnTo>
                    <a:pt x="238125" y="0"/>
                  </a:lnTo>
                  <a:lnTo>
                    <a:pt x="3221486" y="0"/>
                  </a:lnTo>
                  <a:close/>
                </a:path>
              </a:pathLst>
            </a:custGeom>
            <a:solidFill>
              <a:srgbClr val="031A25"/>
            </a:solidFill>
            <a:ln w="9525" cap="sq">
              <a:solidFill>
                <a:srgbClr val="5CE6E2"/>
              </a:solidFill>
              <a:prstDash val="solid"/>
              <a:miter/>
            </a:ln>
          </p:spPr>
        </p:sp>
        <p:sp>
          <p:nvSpPr>
            <p:cNvPr name="TextBox 6" id="6"/>
            <p:cNvSpPr txBox="true"/>
            <p:nvPr/>
          </p:nvSpPr>
          <p:spPr>
            <a:xfrm>
              <a:off x="63500" y="101600"/>
              <a:ext cx="3332611" cy="5975880"/>
            </a:xfrm>
            <a:prstGeom prst="rect">
              <a:avLst/>
            </a:prstGeom>
          </p:spPr>
          <p:txBody>
            <a:bodyPr anchor="ctr" rtlCol="false" tIns="50800" lIns="50800" bIns="50800" rIns="50800"/>
            <a:lstStyle/>
            <a:p>
              <a:pPr algn="ctr">
                <a:lnSpc>
                  <a:spcPts val="1218"/>
                </a:lnSpc>
              </a:pPr>
            </a:p>
          </p:txBody>
        </p:sp>
      </p:grpSp>
      <p:grpSp>
        <p:nvGrpSpPr>
          <p:cNvPr name="Group 7" id="7"/>
          <p:cNvGrpSpPr/>
          <p:nvPr/>
        </p:nvGrpSpPr>
        <p:grpSpPr>
          <a:xfrm rot="0">
            <a:off x="-2343534" y="2778865"/>
            <a:ext cx="4687068" cy="8465730"/>
            <a:chOff x="0" y="0"/>
            <a:chExt cx="3459611" cy="6248711"/>
          </a:xfrm>
        </p:grpSpPr>
        <p:sp>
          <p:nvSpPr>
            <p:cNvPr name="Freeform 8" id="8"/>
            <p:cNvSpPr/>
            <p:nvPr/>
          </p:nvSpPr>
          <p:spPr>
            <a:xfrm flipH="false" flipV="false" rot="0">
              <a:off x="0" y="0"/>
              <a:ext cx="3459611" cy="6248710"/>
            </a:xfrm>
            <a:custGeom>
              <a:avLst/>
              <a:gdLst/>
              <a:ahLst/>
              <a:cxnLst/>
              <a:rect r="r" b="b" t="t" l="l"/>
              <a:pathLst>
                <a:path h="6248710" w="3459611">
                  <a:moveTo>
                    <a:pt x="3221486" y="0"/>
                  </a:moveTo>
                  <a:lnTo>
                    <a:pt x="3459611" y="238125"/>
                  </a:lnTo>
                  <a:lnTo>
                    <a:pt x="3459611" y="6010585"/>
                  </a:lnTo>
                  <a:lnTo>
                    <a:pt x="3221486" y="6248710"/>
                  </a:lnTo>
                  <a:lnTo>
                    <a:pt x="238125" y="6248710"/>
                  </a:lnTo>
                  <a:lnTo>
                    <a:pt x="0" y="6010585"/>
                  </a:lnTo>
                  <a:lnTo>
                    <a:pt x="0" y="238125"/>
                  </a:lnTo>
                  <a:lnTo>
                    <a:pt x="238125" y="0"/>
                  </a:lnTo>
                  <a:lnTo>
                    <a:pt x="3221486" y="0"/>
                  </a:lnTo>
                  <a:close/>
                </a:path>
              </a:pathLst>
            </a:custGeom>
            <a:solidFill>
              <a:srgbClr val="031A25"/>
            </a:solidFill>
            <a:ln w="9525" cap="sq">
              <a:solidFill>
                <a:srgbClr val="5CE6E2"/>
              </a:solidFill>
              <a:prstDash val="solid"/>
              <a:miter/>
            </a:ln>
          </p:spPr>
        </p:sp>
        <p:sp>
          <p:nvSpPr>
            <p:cNvPr name="TextBox 9" id="9"/>
            <p:cNvSpPr txBox="true"/>
            <p:nvPr/>
          </p:nvSpPr>
          <p:spPr>
            <a:xfrm>
              <a:off x="63500" y="101600"/>
              <a:ext cx="3332611" cy="6083611"/>
            </a:xfrm>
            <a:prstGeom prst="rect">
              <a:avLst/>
            </a:prstGeom>
          </p:spPr>
          <p:txBody>
            <a:bodyPr anchor="ctr" rtlCol="false" tIns="50800" lIns="50800" bIns="50800" rIns="50800"/>
            <a:lstStyle/>
            <a:p>
              <a:pPr algn="ctr">
                <a:lnSpc>
                  <a:spcPts val="1218"/>
                </a:lnSpc>
              </a:pPr>
            </a:p>
          </p:txBody>
        </p:sp>
      </p:grpSp>
      <p:sp>
        <p:nvSpPr>
          <p:cNvPr name="TextBox 10" id="10"/>
          <p:cNvSpPr txBox="true"/>
          <p:nvPr/>
        </p:nvSpPr>
        <p:spPr>
          <a:xfrm rot="0">
            <a:off x="1773233" y="2431590"/>
            <a:ext cx="14741533" cy="1128001"/>
          </a:xfrm>
          <a:prstGeom prst="rect">
            <a:avLst/>
          </a:prstGeom>
        </p:spPr>
        <p:txBody>
          <a:bodyPr anchor="t" rtlCol="false" tIns="0" lIns="0" bIns="0" rIns="0">
            <a:spAutoFit/>
          </a:bodyPr>
          <a:lstStyle/>
          <a:p>
            <a:pPr algn="ctr">
              <a:lnSpc>
                <a:spcPts val="7859"/>
              </a:lnSpc>
            </a:pPr>
            <a:r>
              <a:rPr lang="en-US" b="true" sz="10075" spc="-836">
                <a:solidFill>
                  <a:srgbClr val="5CE6E2"/>
                </a:solidFill>
                <a:latin typeface="Bricolage Grotesque Medium"/>
                <a:ea typeface="Bricolage Grotesque Medium"/>
                <a:cs typeface="Bricolage Grotesque Medium"/>
                <a:sym typeface="Bricolage Grotesque Medium"/>
              </a:rPr>
              <a:t>DATA ANALYSIS</a:t>
            </a:r>
          </a:p>
        </p:txBody>
      </p:sp>
      <p:sp>
        <p:nvSpPr>
          <p:cNvPr name="Freeform 11" id="11"/>
          <p:cNvSpPr/>
          <p:nvPr/>
        </p:nvSpPr>
        <p:spPr>
          <a:xfrm flipH="false" flipV="false" rot="0">
            <a:off x="3118875" y="2778865"/>
            <a:ext cx="271411" cy="280594"/>
          </a:xfrm>
          <a:custGeom>
            <a:avLst/>
            <a:gdLst/>
            <a:ahLst/>
            <a:cxnLst/>
            <a:rect r="r" b="b" t="t" l="l"/>
            <a:pathLst>
              <a:path h="280594" w="271411">
                <a:moveTo>
                  <a:pt x="0" y="0"/>
                </a:moveTo>
                <a:lnTo>
                  <a:pt x="271411" y="0"/>
                </a:lnTo>
                <a:lnTo>
                  <a:pt x="271411" y="280594"/>
                </a:lnTo>
                <a:lnTo>
                  <a:pt x="0" y="280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897714" y="2778865"/>
            <a:ext cx="271411" cy="280594"/>
          </a:xfrm>
          <a:custGeom>
            <a:avLst/>
            <a:gdLst/>
            <a:ahLst/>
            <a:cxnLst/>
            <a:rect r="r" b="b" t="t" l="l"/>
            <a:pathLst>
              <a:path h="280594" w="271411">
                <a:moveTo>
                  <a:pt x="0" y="0"/>
                </a:moveTo>
                <a:lnTo>
                  <a:pt x="271411" y="0"/>
                </a:lnTo>
                <a:lnTo>
                  <a:pt x="271411" y="280594"/>
                </a:lnTo>
                <a:lnTo>
                  <a:pt x="0" y="280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6083" y="4026612"/>
            <a:ext cx="5540804" cy="6030807"/>
          </a:xfrm>
          <a:custGeom>
            <a:avLst/>
            <a:gdLst/>
            <a:ahLst/>
            <a:cxnLst/>
            <a:rect r="r" b="b" t="t" l="l"/>
            <a:pathLst>
              <a:path h="6030807" w="5540804">
                <a:moveTo>
                  <a:pt x="0" y="0"/>
                </a:moveTo>
                <a:lnTo>
                  <a:pt x="5540804" y="0"/>
                </a:lnTo>
                <a:lnTo>
                  <a:pt x="5540804" y="6030807"/>
                </a:lnTo>
                <a:lnTo>
                  <a:pt x="0" y="6030807"/>
                </a:lnTo>
                <a:lnTo>
                  <a:pt x="0" y="0"/>
                </a:lnTo>
                <a:close/>
              </a:path>
            </a:pathLst>
          </a:custGeom>
          <a:blipFill>
            <a:blip r:embed="rId6"/>
            <a:stretch>
              <a:fillRect l="0" t="0" r="0" b="0"/>
            </a:stretch>
          </a:blipFill>
        </p:spPr>
      </p:sp>
      <p:sp>
        <p:nvSpPr>
          <p:cNvPr name="Freeform 14" id="14"/>
          <p:cNvSpPr/>
          <p:nvPr/>
        </p:nvSpPr>
        <p:spPr>
          <a:xfrm flipH="false" flipV="false" rot="0">
            <a:off x="6194381" y="4026612"/>
            <a:ext cx="4924791" cy="3626753"/>
          </a:xfrm>
          <a:custGeom>
            <a:avLst/>
            <a:gdLst/>
            <a:ahLst/>
            <a:cxnLst/>
            <a:rect r="r" b="b" t="t" l="l"/>
            <a:pathLst>
              <a:path h="3626753" w="4924791">
                <a:moveTo>
                  <a:pt x="0" y="0"/>
                </a:moveTo>
                <a:lnTo>
                  <a:pt x="4924791" y="0"/>
                </a:lnTo>
                <a:lnTo>
                  <a:pt x="4924791" y="3626754"/>
                </a:lnTo>
                <a:lnTo>
                  <a:pt x="0" y="3626754"/>
                </a:lnTo>
                <a:lnTo>
                  <a:pt x="0" y="0"/>
                </a:lnTo>
                <a:close/>
              </a:path>
            </a:pathLst>
          </a:custGeom>
          <a:blipFill>
            <a:blip r:embed="rId7"/>
            <a:stretch>
              <a:fillRect l="0" t="-242" r="0" b="-242"/>
            </a:stretch>
          </a:blipFill>
        </p:spPr>
      </p:sp>
      <p:sp>
        <p:nvSpPr>
          <p:cNvPr name="Freeform 15" id="15"/>
          <p:cNvSpPr/>
          <p:nvPr/>
        </p:nvSpPr>
        <p:spPr>
          <a:xfrm flipH="false" flipV="false" rot="0">
            <a:off x="11571962" y="4026612"/>
            <a:ext cx="6184932" cy="3780540"/>
          </a:xfrm>
          <a:custGeom>
            <a:avLst/>
            <a:gdLst/>
            <a:ahLst/>
            <a:cxnLst/>
            <a:rect r="r" b="b" t="t" l="l"/>
            <a:pathLst>
              <a:path h="3780540" w="6184932">
                <a:moveTo>
                  <a:pt x="0" y="0"/>
                </a:moveTo>
                <a:lnTo>
                  <a:pt x="6184932" y="0"/>
                </a:lnTo>
                <a:lnTo>
                  <a:pt x="6184932" y="3780540"/>
                </a:lnTo>
                <a:lnTo>
                  <a:pt x="0" y="3780540"/>
                </a:lnTo>
                <a:lnTo>
                  <a:pt x="0" y="0"/>
                </a:lnTo>
                <a:close/>
              </a:path>
            </a:pathLst>
          </a:custGeom>
          <a:blipFill>
            <a:blip r:embed="rId8"/>
            <a:stretch>
              <a:fillRect l="0" t="0" r="0" b="0"/>
            </a:stretch>
          </a:blipFill>
        </p:spPr>
      </p:sp>
      <p:sp>
        <p:nvSpPr>
          <p:cNvPr name="TextBox 16" id="16"/>
          <p:cNvSpPr txBox="true"/>
          <p:nvPr/>
        </p:nvSpPr>
        <p:spPr>
          <a:xfrm rot="0">
            <a:off x="6716038" y="705164"/>
            <a:ext cx="905580" cy="172920"/>
          </a:xfrm>
          <a:prstGeom prst="rect">
            <a:avLst/>
          </a:prstGeom>
        </p:spPr>
        <p:txBody>
          <a:bodyPr anchor="t" rtlCol="false" tIns="0" lIns="0" bIns="0" rIns="0">
            <a:spAutoFit/>
          </a:bodyPr>
          <a:lstStyle/>
          <a:p>
            <a:pPr algn="ctr">
              <a:lnSpc>
                <a:spcPts val="1218"/>
              </a:lnSpc>
            </a:pPr>
            <a:r>
              <a:rPr lang="en-US" b="true" sz="1400" spc="-53">
                <a:solidFill>
                  <a:srgbClr val="5CE6E2"/>
                </a:solidFill>
                <a:latin typeface="Open Sauce Bold"/>
                <a:ea typeface="Open Sauce Bold"/>
                <a:cs typeface="Open Sauce Bold"/>
                <a:sym typeface="Open Sauce Bold"/>
              </a:rPr>
              <a:t>Home</a:t>
            </a:r>
          </a:p>
        </p:txBody>
      </p:sp>
      <p:sp>
        <p:nvSpPr>
          <p:cNvPr name="TextBox 17" id="17"/>
          <p:cNvSpPr txBox="true"/>
          <p:nvPr/>
        </p:nvSpPr>
        <p:spPr>
          <a:xfrm rot="0">
            <a:off x="7954136" y="705164"/>
            <a:ext cx="1030057"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Services</a:t>
            </a:r>
          </a:p>
        </p:txBody>
      </p:sp>
      <p:sp>
        <p:nvSpPr>
          <p:cNvPr name="TextBox 18" id="18"/>
          <p:cNvSpPr txBox="true"/>
          <p:nvPr/>
        </p:nvSpPr>
        <p:spPr>
          <a:xfrm rot="0">
            <a:off x="9316711" y="705164"/>
            <a:ext cx="1017153"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Solution</a:t>
            </a:r>
          </a:p>
        </p:txBody>
      </p:sp>
      <p:sp>
        <p:nvSpPr>
          <p:cNvPr name="TextBox 19" id="19"/>
          <p:cNvSpPr txBox="true"/>
          <p:nvPr/>
        </p:nvSpPr>
        <p:spPr>
          <a:xfrm rot="0">
            <a:off x="10666382" y="705164"/>
            <a:ext cx="905580"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About</a:t>
            </a:r>
          </a:p>
        </p:txBody>
      </p:sp>
      <p:sp>
        <p:nvSpPr>
          <p:cNvPr name="TextBox 20" id="20"/>
          <p:cNvSpPr txBox="true"/>
          <p:nvPr/>
        </p:nvSpPr>
        <p:spPr>
          <a:xfrm rot="0">
            <a:off x="348971" y="3559591"/>
            <a:ext cx="5858050" cy="371475"/>
          </a:xfrm>
          <a:prstGeom prst="rect">
            <a:avLst/>
          </a:prstGeom>
        </p:spPr>
        <p:txBody>
          <a:bodyPr anchor="t" rtlCol="false" tIns="0" lIns="0" bIns="0" rIns="0">
            <a:spAutoFit/>
          </a:bodyPr>
          <a:lstStyle/>
          <a:p>
            <a:pPr algn="ctr">
              <a:lnSpc>
                <a:spcPts val="2999"/>
              </a:lnSpc>
            </a:pPr>
            <a:r>
              <a:rPr lang="en-US" b="true" sz="2499" spc="-94">
                <a:solidFill>
                  <a:srgbClr val="5CE6E2"/>
                </a:solidFill>
                <a:latin typeface="Open Sauce Bold"/>
                <a:ea typeface="Open Sauce Bold"/>
                <a:cs typeface="Open Sauce Bold"/>
                <a:sym typeface="Open Sauce Bold"/>
              </a:rPr>
              <a:t>Five number Summary:</a:t>
            </a:r>
          </a:p>
        </p:txBody>
      </p:sp>
      <p:sp>
        <p:nvSpPr>
          <p:cNvPr name="TextBox 21" id="21"/>
          <p:cNvSpPr txBox="true"/>
          <p:nvPr/>
        </p:nvSpPr>
        <p:spPr>
          <a:xfrm rot="0">
            <a:off x="4808332" y="3559591"/>
            <a:ext cx="5858050" cy="371475"/>
          </a:xfrm>
          <a:prstGeom prst="rect">
            <a:avLst/>
          </a:prstGeom>
        </p:spPr>
        <p:txBody>
          <a:bodyPr anchor="t" rtlCol="false" tIns="0" lIns="0" bIns="0" rIns="0">
            <a:spAutoFit/>
          </a:bodyPr>
          <a:lstStyle/>
          <a:p>
            <a:pPr algn="ctr">
              <a:lnSpc>
                <a:spcPts val="2999"/>
              </a:lnSpc>
            </a:pPr>
            <a:r>
              <a:rPr lang="en-US" b="true" sz="2499" spc="-94">
                <a:solidFill>
                  <a:srgbClr val="5CE6E2"/>
                </a:solidFill>
                <a:latin typeface="Open Sauce Bold"/>
                <a:ea typeface="Open Sauce Bold"/>
                <a:cs typeface="Open Sauce Bold"/>
                <a:sym typeface="Open Sauce Bold"/>
              </a:rPr>
              <a:t>Outliers detection</a:t>
            </a:r>
          </a:p>
        </p:txBody>
      </p:sp>
      <p:sp>
        <p:nvSpPr>
          <p:cNvPr name="TextBox 22" id="22"/>
          <p:cNvSpPr txBox="true"/>
          <p:nvPr/>
        </p:nvSpPr>
        <p:spPr>
          <a:xfrm rot="0">
            <a:off x="7505749" y="8235777"/>
            <a:ext cx="5656230" cy="1378585"/>
          </a:xfrm>
          <a:prstGeom prst="rect">
            <a:avLst/>
          </a:prstGeom>
        </p:spPr>
        <p:txBody>
          <a:bodyPr anchor="t" rtlCol="false" tIns="0" lIns="0" bIns="0" rIns="0">
            <a:spAutoFit/>
          </a:bodyPr>
          <a:lstStyle/>
          <a:p>
            <a:pPr algn="ctr" rtl="true">
              <a:lnSpc>
                <a:spcPts val="2239"/>
              </a:lnSpc>
            </a:pPr>
            <a:r>
              <a:rPr lang="en-US" sz="1599" spc="-60">
                <a:gradFill>
                  <a:gsLst>
                    <a:gs pos="0">
                      <a:srgbClr val="CDFFD8">
                        <a:alpha val="100000"/>
                      </a:srgbClr>
                    </a:gs>
                    <a:gs pos="100000">
                      <a:srgbClr val="94B9FF">
                        <a:alpha val="100000"/>
                      </a:srgbClr>
                    </a:gs>
                  </a:gsLst>
                  <a:lin ang="0"/>
                </a:gradFill>
                <a:latin typeface="Open Sauce"/>
                <a:ea typeface="Open Sauce"/>
                <a:cs typeface="Open Sauce"/>
                <a:sym typeface="Open Sauce"/>
              </a:rPr>
              <a:t>The boxplots show many outliers in PM2.5, PM10, and SO₂, and moderate outliers in Temperature, NO₂, and CO</a:t>
            </a:r>
            <a:r>
              <a:rPr lang="ar-EG" sz="1599" spc="-60">
                <a:gradFill>
                  <a:gsLst>
                    <a:gs pos="0">
                      <a:srgbClr val="CDFFD8">
                        <a:alpha val="100000"/>
                      </a:srgbClr>
                    </a:gs>
                    <a:gs pos="100000">
                      <a:srgbClr val="94B9FF">
                        <a:alpha val="100000"/>
                      </a:srgbClr>
                    </a:gs>
                  </a:gsLst>
                  <a:lin ang="0"/>
                </a:gradFill>
                <a:latin typeface="Open Sauce"/>
                <a:ea typeface="Open Sauce"/>
                <a:cs typeface="Open Sauce"/>
                <a:sym typeface="Open Sauce"/>
                <a:rtl val="true"/>
              </a:rPr>
              <a:t>.</a:t>
            </a:r>
          </a:p>
          <a:p>
            <a:pPr algn="ctr" rtl="true">
              <a:lnSpc>
                <a:spcPts val="2239"/>
              </a:lnSpc>
            </a:pPr>
            <a:r>
              <a:rPr lang="en-US" sz="1599" spc="-60">
                <a:gradFill>
                  <a:gsLst>
                    <a:gs pos="0">
                      <a:srgbClr val="CDFFD8">
                        <a:alpha val="100000"/>
                      </a:srgbClr>
                    </a:gs>
                    <a:gs pos="100000">
                      <a:srgbClr val="94B9FF">
                        <a:alpha val="100000"/>
                      </a:srgbClr>
                    </a:gs>
                  </a:gsLst>
                  <a:lin ang="0"/>
                </a:gradFill>
                <a:latin typeface="Open Sauce"/>
                <a:ea typeface="Open Sauce"/>
                <a:cs typeface="Open Sauce"/>
                <a:sym typeface="Open Sauce"/>
              </a:rPr>
              <a:t>In contrast, Humidity, Industrial Proximity, and Population Density are more stable</a:t>
            </a:r>
            <a:r>
              <a:rPr lang="ar-EG" sz="1599" spc="-60">
                <a:gradFill>
                  <a:gsLst>
                    <a:gs pos="0">
                      <a:srgbClr val="CDFFD8">
                        <a:alpha val="100000"/>
                      </a:srgbClr>
                    </a:gs>
                    <a:gs pos="100000">
                      <a:srgbClr val="94B9FF">
                        <a:alpha val="100000"/>
                      </a:srgbClr>
                    </a:gs>
                  </a:gsLst>
                  <a:lin ang="0"/>
                </a:gradFill>
                <a:latin typeface="Open Sauce"/>
                <a:ea typeface="Open Sauce"/>
                <a:cs typeface="Open Sauce"/>
                <a:sym typeface="Open Sauce"/>
                <a:rtl val="true"/>
              </a:rPr>
              <a:t>.</a:t>
            </a:r>
          </a:p>
          <a:p>
            <a:pPr algn="ctr" rtl="true">
              <a:lnSpc>
                <a:spcPts val="223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grpSp>
        <p:nvGrpSpPr>
          <p:cNvPr name="Group 4" id="4"/>
          <p:cNvGrpSpPr/>
          <p:nvPr/>
        </p:nvGrpSpPr>
        <p:grpSpPr>
          <a:xfrm rot="0">
            <a:off x="15944466" y="2781959"/>
            <a:ext cx="4687068" cy="8319777"/>
            <a:chOff x="0" y="0"/>
            <a:chExt cx="3459611" cy="6140980"/>
          </a:xfrm>
        </p:grpSpPr>
        <p:sp>
          <p:nvSpPr>
            <p:cNvPr name="Freeform 5" id="5"/>
            <p:cNvSpPr/>
            <p:nvPr/>
          </p:nvSpPr>
          <p:spPr>
            <a:xfrm flipH="false" flipV="false" rot="0">
              <a:off x="0" y="0"/>
              <a:ext cx="3459611" cy="6140980"/>
            </a:xfrm>
            <a:custGeom>
              <a:avLst/>
              <a:gdLst/>
              <a:ahLst/>
              <a:cxnLst/>
              <a:rect r="r" b="b" t="t" l="l"/>
              <a:pathLst>
                <a:path h="6140980" w="3459611">
                  <a:moveTo>
                    <a:pt x="3221486" y="0"/>
                  </a:moveTo>
                  <a:lnTo>
                    <a:pt x="3459611" y="238125"/>
                  </a:lnTo>
                  <a:lnTo>
                    <a:pt x="3459611" y="5902855"/>
                  </a:lnTo>
                  <a:lnTo>
                    <a:pt x="3221486" y="6140980"/>
                  </a:lnTo>
                  <a:lnTo>
                    <a:pt x="238125" y="6140980"/>
                  </a:lnTo>
                  <a:lnTo>
                    <a:pt x="0" y="5902855"/>
                  </a:lnTo>
                  <a:lnTo>
                    <a:pt x="0" y="238125"/>
                  </a:lnTo>
                  <a:lnTo>
                    <a:pt x="238125" y="0"/>
                  </a:lnTo>
                  <a:lnTo>
                    <a:pt x="3221486" y="0"/>
                  </a:lnTo>
                  <a:close/>
                </a:path>
              </a:pathLst>
            </a:custGeom>
            <a:solidFill>
              <a:srgbClr val="031A25"/>
            </a:solidFill>
            <a:ln w="9525" cap="sq">
              <a:solidFill>
                <a:srgbClr val="5CE6E2"/>
              </a:solidFill>
              <a:prstDash val="solid"/>
              <a:miter/>
            </a:ln>
          </p:spPr>
        </p:sp>
        <p:sp>
          <p:nvSpPr>
            <p:cNvPr name="TextBox 6" id="6"/>
            <p:cNvSpPr txBox="true"/>
            <p:nvPr/>
          </p:nvSpPr>
          <p:spPr>
            <a:xfrm>
              <a:off x="63500" y="101600"/>
              <a:ext cx="3332611" cy="5975880"/>
            </a:xfrm>
            <a:prstGeom prst="rect">
              <a:avLst/>
            </a:prstGeom>
          </p:spPr>
          <p:txBody>
            <a:bodyPr anchor="ctr" rtlCol="false" tIns="50800" lIns="50800" bIns="50800" rIns="50800"/>
            <a:lstStyle/>
            <a:p>
              <a:pPr algn="ctr">
                <a:lnSpc>
                  <a:spcPts val="1218"/>
                </a:lnSpc>
              </a:pPr>
            </a:p>
          </p:txBody>
        </p:sp>
      </p:grpSp>
      <p:grpSp>
        <p:nvGrpSpPr>
          <p:cNvPr name="Group 7" id="7"/>
          <p:cNvGrpSpPr/>
          <p:nvPr/>
        </p:nvGrpSpPr>
        <p:grpSpPr>
          <a:xfrm rot="0">
            <a:off x="-2343534" y="2778865"/>
            <a:ext cx="4687068" cy="8465730"/>
            <a:chOff x="0" y="0"/>
            <a:chExt cx="3459611" cy="6248711"/>
          </a:xfrm>
        </p:grpSpPr>
        <p:sp>
          <p:nvSpPr>
            <p:cNvPr name="Freeform 8" id="8"/>
            <p:cNvSpPr/>
            <p:nvPr/>
          </p:nvSpPr>
          <p:spPr>
            <a:xfrm flipH="false" flipV="false" rot="0">
              <a:off x="0" y="0"/>
              <a:ext cx="3459611" cy="6248710"/>
            </a:xfrm>
            <a:custGeom>
              <a:avLst/>
              <a:gdLst/>
              <a:ahLst/>
              <a:cxnLst/>
              <a:rect r="r" b="b" t="t" l="l"/>
              <a:pathLst>
                <a:path h="6248710" w="3459611">
                  <a:moveTo>
                    <a:pt x="3221486" y="0"/>
                  </a:moveTo>
                  <a:lnTo>
                    <a:pt x="3459611" y="238125"/>
                  </a:lnTo>
                  <a:lnTo>
                    <a:pt x="3459611" y="6010585"/>
                  </a:lnTo>
                  <a:lnTo>
                    <a:pt x="3221486" y="6248710"/>
                  </a:lnTo>
                  <a:lnTo>
                    <a:pt x="238125" y="6248710"/>
                  </a:lnTo>
                  <a:lnTo>
                    <a:pt x="0" y="6010585"/>
                  </a:lnTo>
                  <a:lnTo>
                    <a:pt x="0" y="238125"/>
                  </a:lnTo>
                  <a:lnTo>
                    <a:pt x="238125" y="0"/>
                  </a:lnTo>
                  <a:lnTo>
                    <a:pt x="3221486" y="0"/>
                  </a:lnTo>
                  <a:close/>
                </a:path>
              </a:pathLst>
            </a:custGeom>
            <a:solidFill>
              <a:srgbClr val="031A25"/>
            </a:solidFill>
            <a:ln w="9525" cap="sq">
              <a:solidFill>
                <a:srgbClr val="5CE6E2"/>
              </a:solidFill>
              <a:prstDash val="solid"/>
              <a:miter/>
            </a:ln>
          </p:spPr>
        </p:sp>
        <p:sp>
          <p:nvSpPr>
            <p:cNvPr name="TextBox 9" id="9"/>
            <p:cNvSpPr txBox="true"/>
            <p:nvPr/>
          </p:nvSpPr>
          <p:spPr>
            <a:xfrm>
              <a:off x="63500" y="101600"/>
              <a:ext cx="3332611" cy="6083611"/>
            </a:xfrm>
            <a:prstGeom prst="rect">
              <a:avLst/>
            </a:prstGeom>
          </p:spPr>
          <p:txBody>
            <a:bodyPr anchor="ctr" rtlCol="false" tIns="50800" lIns="50800" bIns="50800" rIns="50800"/>
            <a:lstStyle/>
            <a:p>
              <a:pPr algn="ctr">
                <a:lnSpc>
                  <a:spcPts val="1218"/>
                </a:lnSpc>
              </a:pPr>
            </a:p>
          </p:txBody>
        </p:sp>
      </p:grpSp>
      <p:sp>
        <p:nvSpPr>
          <p:cNvPr name="TextBox 10" id="10"/>
          <p:cNvSpPr txBox="true"/>
          <p:nvPr/>
        </p:nvSpPr>
        <p:spPr>
          <a:xfrm rot="0">
            <a:off x="1773233" y="2431590"/>
            <a:ext cx="14741533" cy="1128001"/>
          </a:xfrm>
          <a:prstGeom prst="rect">
            <a:avLst/>
          </a:prstGeom>
        </p:spPr>
        <p:txBody>
          <a:bodyPr anchor="t" rtlCol="false" tIns="0" lIns="0" bIns="0" rIns="0">
            <a:spAutoFit/>
          </a:bodyPr>
          <a:lstStyle/>
          <a:p>
            <a:pPr algn="ctr">
              <a:lnSpc>
                <a:spcPts val="7859"/>
              </a:lnSpc>
            </a:pPr>
            <a:r>
              <a:rPr lang="en-US" b="true" sz="10075" spc="-836">
                <a:solidFill>
                  <a:srgbClr val="5CE6E2"/>
                </a:solidFill>
                <a:latin typeface="Bricolage Grotesque Medium"/>
                <a:ea typeface="Bricolage Grotesque Medium"/>
                <a:cs typeface="Bricolage Grotesque Medium"/>
                <a:sym typeface="Bricolage Grotesque Medium"/>
              </a:rPr>
              <a:t>DATA ANALYSIS</a:t>
            </a:r>
          </a:p>
        </p:txBody>
      </p:sp>
      <p:sp>
        <p:nvSpPr>
          <p:cNvPr name="Freeform 11" id="11"/>
          <p:cNvSpPr/>
          <p:nvPr/>
        </p:nvSpPr>
        <p:spPr>
          <a:xfrm flipH="false" flipV="false" rot="0">
            <a:off x="3118875" y="2778865"/>
            <a:ext cx="271411" cy="280594"/>
          </a:xfrm>
          <a:custGeom>
            <a:avLst/>
            <a:gdLst/>
            <a:ahLst/>
            <a:cxnLst/>
            <a:rect r="r" b="b" t="t" l="l"/>
            <a:pathLst>
              <a:path h="280594" w="271411">
                <a:moveTo>
                  <a:pt x="0" y="0"/>
                </a:moveTo>
                <a:lnTo>
                  <a:pt x="271411" y="0"/>
                </a:lnTo>
                <a:lnTo>
                  <a:pt x="271411" y="280594"/>
                </a:lnTo>
                <a:lnTo>
                  <a:pt x="0" y="280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897714" y="2778865"/>
            <a:ext cx="271411" cy="280594"/>
          </a:xfrm>
          <a:custGeom>
            <a:avLst/>
            <a:gdLst/>
            <a:ahLst/>
            <a:cxnLst/>
            <a:rect r="r" b="b" t="t" l="l"/>
            <a:pathLst>
              <a:path h="280594" w="271411">
                <a:moveTo>
                  <a:pt x="0" y="0"/>
                </a:moveTo>
                <a:lnTo>
                  <a:pt x="271411" y="0"/>
                </a:lnTo>
                <a:lnTo>
                  <a:pt x="271411" y="280594"/>
                </a:lnTo>
                <a:lnTo>
                  <a:pt x="0" y="280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01475" y="3659878"/>
            <a:ext cx="4526725" cy="2687743"/>
          </a:xfrm>
          <a:custGeom>
            <a:avLst/>
            <a:gdLst/>
            <a:ahLst/>
            <a:cxnLst/>
            <a:rect r="r" b="b" t="t" l="l"/>
            <a:pathLst>
              <a:path h="2687743" w="4526725">
                <a:moveTo>
                  <a:pt x="0" y="0"/>
                </a:moveTo>
                <a:lnTo>
                  <a:pt x="4526725" y="0"/>
                </a:lnTo>
                <a:lnTo>
                  <a:pt x="4526725" y="2687743"/>
                </a:lnTo>
                <a:lnTo>
                  <a:pt x="0" y="2687743"/>
                </a:lnTo>
                <a:lnTo>
                  <a:pt x="0" y="0"/>
                </a:lnTo>
                <a:close/>
              </a:path>
            </a:pathLst>
          </a:custGeom>
          <a:blipFill>
            <a:blip r:embed="rId6"/>
            <a:stretch>
              <a:fillRect l="0" t="0" r="0" b="0"/>
            </a:stretch>
          </a:blipFill>
        </p:spPr>
      </p:sp>
      <p:sp>
        <p:nvSpPr>
          <p:cNvPr name="Freeform 14" id="14"/>
          <p:cNvSpPr/>
          <p:nvPr/>
        </p:nvSpPr>
        <p:spPr>
          <a:xfrm flipH="false" flipV="false" rot="0">
            <a:off x="225003" y="3621963"/>
            <a:ext cx="4521163" cy="2887893"/>
          </a:xfrm>
          <a:custGeom>
            <a:avLst/>
            <a:gdLst/>
            <a:ahLst/>
            <a:cxnLst/>
            <a:rect r="r" b="b" t="t" l="l"/>
            <a:pathLst>
              <a:path h="2887893" w="4521163">
                <a:moveTo>
                  <a:pt x="0" y="0"/>
                </a:moveTo>
                <a:lnTo>
                  <a:pt x="4521163" y="0"/>
                </a:lnTo>
                <a:lnTo>
                  <a:pt x="4521163" y="2887893"/>
                </a:lnTo>
                <a:lnTo>
                  <a:pt x="0" y="2887893"/>
                </a:lnTo>
                <a:lnTo>
                  <a:pt x="0" y="0"/>
                </a:lnTo>
                <a:close/>
              </a:path>
            </a:pathLst>
          </a:custGeom>
          <a:blipFill>
            <a:blip r:embed="rId7"/>
            <a:stretch>
              <a:fillRect l="0" t="0" r="0" b="0"/>
            </a:stretch>
          </a:blipFill>
        </p:spPr>
      </p:sp>
      <p:sp>
        <p:nvSpPr>
          <p:cNvPr name="Freeform 15" id="15"/>
          <p:cNvSpPr/>
          <p:nvPr/>
        </p:nvSpPr>
        <p:spPr>
          <a:xfrm flipH="false" flipV="false" rot="0">
            <a:off x="9825287" y="3659878"/>
            <a:ext cx="4241731" cy="2587456"/>
          </a:xfrm>
          <a:custGeom>
            <a:avLst/>
            <a:gdLst/>
            <a:ahLst/>
            <a:cxnLst/>
            <a:rect r="r" b="b" t="t" l="l"/>
            <a:pathLst>
              <a:path h="2587456" w="4241731">
                <a:moveTo>
                  <a:pt x="0" y="0"/>
                </a:moveTo>
                <a:lnTo>
                  <a:pt x="4241731" y="0"/>
                </a:lnTo>
                <a:lnTo>
                  <a:pt x="4241731" y="2587456"/>
                </a:lnTo>
                <a:lnTo>
                  <a:pt x="0" y="2587456"/>
                </a:lnTo>
                <a:lnTo>
                  <a:pt x="0" y="0"/>
                </a:lnTo>
                <a:close/>
              </a:path>
            </a:pathLst>
          </a:custGeom>
          <a:blipFill>
            <a:blip r:embed="rId8"/>
            <a:stretch>
              <a:fillRect l="0" t="0" r="0" b="0"/>
            </a:stretch>
          </a:blipFill>
        </p:spPr>
      </p:sp>
      <p:sp>
        <p:nvSpPr>
          <p:cNvPr name="Freeform 16" id="16"/>
          <p:cNvSpPr/>
          <p:nvPr/>
        </p:nvSpPr>
        <p:spPr>
          <a:xfrm flipH="false" flipV="false" rot="0">
            <a:off x="381106" y="6954197"/>
            <a:ext cx="4208956" cy="2662165"/>
          </a:xfrm>
          <a:custGeom>
            <a:avLst/>
            <a:gdLst/>
            <a:ahLst/>
            <a:cxnLst/>
            <a:rect r="r" b="b" t="t" l="l"/>
            <a:pathLst>
              <a:path h="2662165" w="4208956">
                <a:moveTo>
                  <a:pt x="0" y="0"/>
                </a:moveTo>
                <a:lnTo>
                  <a:pt x="4208956" y="0"/>
                </a:lnTo>
                <a:lnTo>
                  <a:pt x="4208956" y="2662165"/>
                </a:lnTo>
                <a:lnTo>
                  <a:pt x="0" y="2662165"/>
                </a:lnTo>
                <a:lnTo>
                  <a:pt x="0" y="0"/>
                </a:lnTo>
                <a:close/>
              </a:path>
            </a:pathLst>
          </a:custGeom>
          <a:blipFill>
            <a:blip r:embed="rId9"/>
            <a:stretch>
              <a:fillRect l="0" t="0" r="0" b="0"/>
            </a:stretch>
          </a:blipFill>
        </p:spPr>
      </p:sp>
      <p:sp>
        <p:nvSpPr>
          <p:cNvPr name="Freeform 17" id="17"/>
          <p:cNvSpPr/>
          <p:nvPr/>
        </p:nvSpPr>
        <p:spPr>
          <a:xfrm flipH="false" flipV="false" rot="0">
            <a:off x="9402303" y="6932733"/>
            <a:ext cx="4350506" cy="2675561"/>
          </a:xfrm>
          <a:custGeom>
            <a:avLst/>
            <a:gdLst/>
            <a:ahLst/>
            <a:cxnLst/>
            <a:rect r="r" b="b" t="t" l="l"/>
            <a:pathLst>
              <a:path h="2675561" w="4350506">
                <a:moveTo>
                  <a:pt x="0" y="0"/>
                </a:moveTo>
                <a:lnTo>
                  <a:pt x="4350506" y="0"/>
                </a:lnTo>
                <a:lnTo>
                  <a:pt x="4350506" y="2675561"/>
                </a:lnTo>
                <a:lnTo>
                  <a:pt x="0" y="2675561"/>
                </a:lnTo>
                <a:lnTo>
                  <a:pt x="0" y="0"/>
                </a:lnTo>
                <a:close/>
              </a:path>
            </a:pathLst>
          </a:custGeom>
          <a:blipFill>
            <a:blip r:embed="rId10"/>
            <a:stretch>
              <a:fillRect l="0" t="0" r="0" b="0"/>
            </a:stretch>
          </a:blipFill>
        </p:spPr>
      </p:sp>
      <p:sp>
        <p:nvSpPr>
          <p:cNvPr name="Freeform 18" id="18"/>
          <p:cNvSpPr/>
          <p:nvPr/>
        </p:nvSpPr>
        <p:spPr>
          <a:xfrm flipH="false" flipV="false" rot="0">
            <a:off x="14257518" y="4283491"/>
            <a:ext cx="3928064" cy="5168505"/>
          </a:xfrm>
          <a:custGeom>
            <a:avLst/>
            <a:gdLst/>
            <a:ahLst/>
            <a:cxnLst/>
            <a:rect r="r" b="b" t="t" l="l"/>
            <a:pathLst>
              <a:path h="5168505" w="3928064">
                <a:moveTo>
                  <a:pt x="0" y="0"/>
                </a:moveTo>
                <a:lnTo>
                  <a:pt x="3928064" y="0"/>
                </a:lnTo>
                <a:lnTo>
                  <a:pt x="3928064" y="5168505"/>
                </a:lnTo>
                <a:lnTo>
                  <a:pt x="0" y="5168505"/>
                </a:lnTo>
                <a:lnTo>
                  <a:pt x="0" y="0"/>
                </a:lnTo>
                <a:close/>
              </a:path>
            </a:pathLst>
          </a:custGeom>
          <a:blipFill>
            <a:blip r:embed="rId11"/>
            <a:stretch>
              <a:fillRect l="0" t="0" r="0" b="0"/>
            </a:stretch>
          </a:blipFill>
        </p:spPr>
      </p:sp>
      <p:sp>
        <p:nvSpPr>
          <p:cNvPr name="Freeform 19" id="19"/>
          <p:cNvSpPr/>
          <p:nvPr/>
        </p:nvSpPr>
        <p:spPr>
          <a:xfrm flipH="false" flipV="false" rot="0">
            <a:off x="4784865" y="6932733"/>
            <a:ext cx="4285236" cy="2683629"/>
          </a:xfrm>
          <a:custGeom>
            <a:avLst/>
            <a:gdLst/>
            <a:ahLst/>
            <a:cxnLst/>
            <a:rect r="r" b="b" t="t" l="l"/>
            <a:pathLst>
              <a:path h="2683629" w="4285236">
                <a:moveTo>
                  <a:pt x="0" y="0"/>
                </a:moveTo>
                <a:lnTo>
                  <a:pt x="4285236" y="0"/>
                </a:lnTo>
                <a:lnTo>
                  <a:pt x="4285236" y="2683629"/>
                </a:lnTo>
                <a:lnTo>
                  <a:pt x="0" y="2683629"/>
                </a:lnTo>
                <a:lnTo>
                  <a:pt x="0" y="0"/>
                </a:lnTo>
                <a:close/>
              </a:path>
            </a:pathLst>
          </a:custGeom>
          <a:blipFill>
            <a:blip r:embed="rId12"/>
            <a:stretch>
              <a:fillRect l="0" t="0" r="0" b="0"/>
            </a:stretch>
          </a:blipFill>
        </p:spPr>
      </p:sp>
      <p:sp>
        <p:nvSpPr>
          <p:cNvPr name="TextBox 20" id="20"/>
          <p:cNvSpPr txBox="true"/>
          <p:nvPr/>
        </p:nvSpPr>
        <p:spPr>
          <a:xfrm rot="0">
            <a:off x="10666382" y="705164"/>
            <a:ext cx="905580"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About</a:t>
            </a:r>
          </a:p>
        </p:txBody>
      </p:sp>
      <p:sp>
        <p:nvSpPr>
          <p:cNvPr name="TextBox 21" id="21"/>
          <p:cNvSpPr txBox="true"/>
          <p:nvPr/>
        </p:nvSpPr>
        <p:spPr>
          <a:xfrm rot="0">
            <a:off x="1661037" y="1660065"/>
            <a:ext cx="5858050" cy="371475"/>
          </a:xfrm>
          <a:prstGeom prst="rect">
            <a:avLst/>
          </a:prstGeom>
        </p:spPr>
        <p:txBody>
          <a:bodyPr anchor="t" rtlCol="false" tIns="0" lIns="0" bIns="0" rIns="0">
            <a:spAutoFit/>
          </a:bodyPr>
          <a:lstStyle/>
          <a:p>
            <a:pPr algn="ctr">
              <a:lnSpc>
                <a:spcPts val="2999"/>
              </a:lnSpc>
            </a:pPr>
            <a:r>
              <a:rPr lang="en-US" b="true" sz="2499" spc="-94">
                <a:solidFill>
                  <a:srgbClr val="5CE6E2"/>
                </a:solidFill>
                <a:latin typeface="Open Sauce Bold"/>
                <a:ea typeface="Open Sauce Bold"/>
                <a:cs typeface="Open Sauce Bold"/>
                <a:sym typeface="Open Sauce Bold"/>
              </a:rPr>
              <a:t>Variable Distribution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grpSp>
        <p:nvGrpSpPr>
          <p:cNvPr name="Group 4" id="4"/>
          <p:cNvGrpSpPr/>
          <p:nvPr/>
        </p:nvGrpSpPr>
        <p:grpSpPr>
          <a:xfrm rot="0">
            <a:off x="15944466" y="2781959"/>
            <a:ext cx="4687068" cy="8319777"/>
            <a:chOff x="0" y="0"/>
            <a:chExt cx="3459611" cy="6140980"/>
          </a:xfrm>
        </p:grpSpPr>
        <p:sp>
          <p:nvSpPr>
            <p:cNvPr name="Freeform 5" id="5"/>
            <p:cNvSpPr/>
            <p:nvPr/>
          </p:nvSpPr>
          <p:spPr>
            <a:xfrm flipH="false" flipV="false" rot="0">
              <a:off x="0" y="0"/>
              <a:ext cx="3459611" cy="6140980"/>
            </a:xfrm>
            <a:custGeom>
              <a:avLst/>
              <a:gdLst/>
              <a:ahLst/>
              <a:cxnLst/>
              <a:rect r="r" b="b" t="t" l="l"/>
              <a:pathLst>
                <a:path h="6140980" w="3459611">
                  <a:moveTo>
                    <a:pt x="3221486" y="0"/>
                  </a:moveTo>
                  <a:lnTo>
                    <a:pt x="3459611" y="238125"/>
                  </a:lnTo>
                  <a:lnTo>
                    <a:pt x="3459611" y="5902855"/>
                  </a:lnTo>
                  <a:lnTo>
                    <a:pt x="3221486" y="6140980"/>
                  </a:lnTo>
                  <a:lnTo>
                    <a:pt x="238125" y="6140980"/>
                  </a:lnTo>
                  <a:lnTo>
                    <a:pt x="0" y="5902855"/>
                  </a:lnTo>
                  <a:lnTo>
                    <a:pt x="0" y="238125"/>
                  </a:lnTo>
                  <a:lnTo>
                    <a:pt x="238125" y="0"/>
                  </a:lnTo>
                  <a:lnTo>
                    <a:pt x="3221486" y="0"/>
                  </a:lnTo>
                  <a:close/>
                </a:path>
              </a:pathLst>
            </a:custGeom>
            <a:solidFill>
              <a:srgbClr val="031A25"/>
            </a:solidFill>
            <a:ln w="9525" cap="sq">
              <a:solidFill>
                <a:srgbClr val="5CE6E2"/>
              </a:solidFill>
              <a:prstDash val="solid"/>
              <a:miter/>
            </a:ln>
          </p:spPr>
        </p:sp>
        <p:sp>
          <p:nvSpPr>
            <p:cNvPr name="TextBox 6" id="6"/>
            <p:cNvSpPr txBox="true"/>
            <p:nvPr/>
          </p:nvSpPr>
          <p:spPr>
            <a:xfrm>
              <a:off x="63500" y="101600"/>
              <a:ext cx="3332611" cy="5975880"/>
            </a:xfrm>
            <a:prstGeom prst="rect">
              <a:avLst/>
            </a:prstGeom>
          </p:spPr>
          <p:txBody>
            <a:bodyPr anchor="ctr" rtlCol="false" tIns="50800" lIns="50800" bIns="50800" rIns="50800"/>
            <a:lstStyle/>
            <a:p>
              <a:pPr algn="ctr">
                <a:lnSpc>
                  <a:spcPts val="1218"/>
                </a:lnSpc>
              </a:pPr>
            </a:p>
          </p:txBody>
        </p:sp>
      </p:grpSp>
      <p:grpSp>
        <p:nvGrpSpPr>
          <p:cNvPr name="Group 7" id="7"/>
          <p:cNvGrpSpPr/>
          <p:nvPr/>
        </p:nvGrpSpPr>
        <p:grpSpPr>
          <a:xfrm rot="0">
            <a:off x="-2343534" y="2778865"/>
            <a:ext cx="4687068" cy="8465730"/>
            <a:chOff x="0" y="0"/>
            <a:chExt cx="3459611" cy="6248711"/>
          </a:xfrm>
        </p:grpSpPr>
        <p:sp>
          <p:nvSpPr>
            <p:cNvPr name="Freeform 8" id="8"/>
            <p:cNvSpPr/>
            <p:nvPr/>
          </p:nvSpPr>
          <p:spPr>
            <a:xfrm flipH="false" flipV="false" rot="0">
              <a:off x="0" y="0"/>
              <a:ext cx="3459611" cy="6248710"/>
            </a:xfrm>
            <a:custGeom>
              <a:avLst/>
              <a:gdLst/>
              <a:ahLst/>
              <a:cxnLst/>
              <a:rect r="r" b="b" t="t" l="l"/>
              <a:pathLst>
                <a:path h="6248710" w="3459611">
                  <a:moveTo>
                    <a:pt x="3221486" y="0"/>
                  </a:moveTo>
                  <a:lnTo>
                    <a:pt x="3459611" y="238125"/>
                  </a:lnTo>
                  <a:lnTo>
                    <a:pt x="3459611" y="6010585"/>
                  </a:lnTo>
                  <a:lnTo>
                    <a:pt x="3221486" y="6248710"/>
                  </a:lnTo>
                  <a:lnTo>
                    <a:pt x="238125" y="6248710"/>
                  </a:lnTo>
                  <a:lnTo>
                    <a:pt x="0" y="6010585"/>
                  </a:lnTo>
                  <a:lnTo>
                    <a:pt x="0" y="238125"/>
                  </a:lnTo>
                  <a:lnTo>
                    <a:pt x="238125" y="0"/>
                  </a:lnTo>
                  <a:lnTo>
                    <a:pt x="3221486" y="0"/>
                  </a:lnTo>
                  <a:close/>
                </a:path>
              </a:pathLst>
            </a:custGeom>
            <a:solidFill>
              <a:srgbClr val="031A25"/>
            </a:solidFill>
            <a:ln w="9525" cap="sq">
              <a:solidFill>
                <a:srgbClr val="5CE6E2"/>
              </a:solidFill>
              <a:prstDash val="solid"/>
              <a:miter/>
            </a:ln>
          </p:spPr>
        </p:sp>
        <p:sp>
          <p:nvSpPr>
            <p:cNvPr name="TextBox 9" id="9"/>
            <p:cNvSpPr txBox="true"/>
            <p:nvPr/>
          </p:nvSpPr>
          <p:spPr>
            <a:xfrm>
              <a:off x="63500" y="101600"/>
              <a:ext cx="3332611" cy="6083611"/>
            </a:xfrm>
            <a:prstGeom prst="rect">
              <a:avLst/>
            </a:prstGeom>
          </p:spPr>
          <p:txBody>
            <a:bodyPr anchor="ctr" rtlCol="false" tIns="50800" lIns="50800" bIns="50800" rIns="50800"/>
            <a:lstStyle/>
            <a:p>
              <a:pPr algn="ctr">
                <a:lnSpc>
                  <a:spcPts val="1218"/>
                </a:lnSpc>
              </a:pPr>
            </a:p>
          </p:txBody>
        </p:sp>
      </p:grpSp>
      <p:sp>
        <p:nvSpPr>
          <p:cNvPr name="TextBox 10" id="10"/>
          <p:cNvSpPr txBox="true"/>
          <p:nvPr/>
        </p:nvSpPr>
        <p:spPr>
          <a:xfrm rot="0">
            <a:off x="1773233" y="2431590"/>
            <a:ext cx="14741533" cy="1128001"/>
          </a:xfrm>
          <a:prstGeom prst="rect">
            <a:avLst/>
          </a:prstGeom>
        </p:spPr>
        <p:txBody>
          <a:bodyPr anchor="t" rtlCol="false" tIns="0" lIns="0" bIns="0" rIns="0">
            <a:spAutoFit/>
          </a:bodyPr>
          <a:lstStyle/>
          <a:p>
            <a:pPr algn="ctr">
              <a:lnSpc>
                <a:spcPts val="7859"/>
              </a:lnSpc>
            </a:pPr>
            <a:r>
              <a:rPr lang="en-US" b="true" sz="10075" spc="-836">
                <a:solidFill>
                  <a:srgbClr val="5CE6E2"/>
                </a:solidFill>
                <a:latin typeface="Bricolage Grotesque Medium"/>
                <a:ea typeface="Bricolage Grotesque Medium"/>
                <a:cs typeface="Bricolage Grotesque Medium"/>
                <a:sym typeface="Bricolage Grotesque Medium"/>
              </a:rPr>
              <a:t>DATA ANALYSIS</a:t>
            </a:r>
          </a:p>
        </p:txBody>
      </p:sp>
      <p:sp>
        <p:nvSpPr>
          <p:cNvPr name="Freeform 11" id="11"/>
          <p:cNvSpPr/>
          <p:nvPr/>
        </p:nvSpPr>
        <p:spPr>
          <a:xfrm flipH="false" flipV="false" rot="0">
            <a:off x="3118875" y="2778865"/>
            <a:ext cx="271411" cy="280594"/>
          </a:xfrm>
          <a:custGeom>
            <a:avLst/>
            <a:gdLst/>
            <a:ahLst/>
            <a:cxnLst/>
            <a:rect r="r" b="b" t="t" l="l"/>
            <a:pathLst>
              <a:path h="280594" w="271411">
                <a:moveTo>
                  <a:pt x="0" y="0"/>
                </a:moveTo>
                <a:lnTo>
                  <a:pt x="271411" y="0"/>
                </a:lnTo>
                <a:lnTo>
                  <a:pt x="271411" y="280594"/>
                </a:lnTo>
                <a:lnTo>
                  <a:pt x="0" y="280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4897714" y="2778865"/>
            <a:ext cx="271411" cy="280594"/>
          </a:xfrm>
          <a:custGeom>
            <a:avLst/>
            <a:gdLst/>
            <a:ahLst/>
            <a:cxnLst/>
            <a:rect r="r" b="b" t="t" l="l"/>
            <a:pathLst>
              <a:path h="280594" w="271411">
                <a:moveTo>
                  <a:pt x="0" y="0"/>
                </a:moveTo>
                <a:lnTo>
                  <a:pt x="271411" y="0"/>
                </a:lnTo>
                <a:lnTo>
                  <a:pt x="271411" y="280594"/>
                </a:lnTo>
                <a:lnTo>
                  <a:pt x="0" y="280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2934381" y="4344307"/>
            <a:ext cx="5447005" cy="5195081"/>
          </a:xfrm>
          <a:custGeom>
            <a:avLst/>
            <a:gdLst/>
            <a:ahLst/>
            <a:cxnLst/>
            <a:rect r="r" b="b" t="t" l="l"/>
            <a:pathLst>
              <a:path h="5195081" w="5447005">
                <a:moveTo>
                  <a:pt x="0" y="0"/>
                </a:moveTo>
                <a:lnTo>
                  <a:pt x="5447004" y="0"/>
                </a:lnTo>
                <a:lnTo>
                  <a:pt x="5447004" y="5195081"/>
                </a:lnTo>
                <a:lnTo>
                  <a:pt x="0" y="5195081"/>
                </a:lnTo>
                <a:lnTo>
                  <a:pt x="0" y="0"/>
                </a:lnTo>
                <a:close/>
              </a:path>
            </a:pathLst>
          </a:custGeom>
          <a:blipFill>
            <a:blip r:embed="rId6"/>
            <a:stretch>
              <a:fillRect l="0" t="0" r="0" b="0"/>
            </a:stretch>
          </a:blipFill>
        </p:spPr>
      </p:sp>
      <p:sp>
        <p:nvSpPr>
          <p:cNvPr name="Freeform 14" id="14"/>
          <p:cNvSpPr/>
          <p:nvPr/>
        </p:nvSpPr>
        <p:spPr>
          <a:xfrm flipH="false" flipV="false" rot="0">
            <a:off x="9612467" y="4435891"/>
            <a:ext cx="5285247" cy="3162672"/>
          </a:xfrm>
          <a:custGeom>
            <a:avLst/>
            <a:gdLst/>
            <a:ahLst/>
            <a:cxnLst/>
            <a:rect r="r" b="b" t="t" l="l"/>
            <a:pathLst>
              <a:path h="3162672" w="5285247">
                <a:moveTo>
                  <a:pt x="0" y="0"/>
                </a:moveTo>
                <a:lnTo>
                  <a:pt x="5285247" y="0"/>
                </a:lnTo>
                <a:lnTo>
                  <a:pt x="5285247" y="3162672"/>
                </a:lnTo>
                <a:lnTo>
                  <a:pt x="0" y="3162672"/>
                </a:lnTo>
                <a:lnTo>
                  <a:pt x="0" y="0"/>
                </a:lnTo>
                <a:close/>
              </a:path>
            </a:pathLst>
          </a:custGeom>
          <a:blipFill>
            <a:blip r:embed="rId7"/>
            <a:stretch>
              <a:fillRect l="0" t="0" r="0" b="-34526"/>
            </a:stretch>
          </a:blipFill>
        </p:spPr>
      </p:sp>
      <p:sp>
        <p:nvSpPr>
          <p:cNvPr name="TextBox 15" id="15"/>
          <p:cNvSpPr txBox="true"/>
          <p:nvPr/>
        </p:nvSpPr>
        <p:spPr>
          <a:xfrm rot="0">
            <a:off x="10666382" y="705164"/>
            <a:ext cx="905580"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About</a:t>
            </a:r>
          </a:p>
        </p:txBody>
      </p:sp>
      <p:sp>
        <p:nvSpPr>
          <p:cNvPr name="TextBox 16" id="16"/>
          <p:cNvSpPr txBox="true"/>
          <p:nvPr/>
        </p:nvSpPr>
        <p:spPr>
          <a:xfrm rot="0">
            <a:off x="2109017" y="3559591"/>
            <a:ext cx="5858050" cy="371475"/>
          </a:xfrm>
          <a:prstGeom prst="rect">
            <a:avLst/>
          </a:prstGeom>
        </p:spPr>
        <p:txBody>
          <a:bodyPr anchor="t" rtlCol="false" tIns="0" lIns="0" bIns="0" rIns="0">
            <a:spAutoFit/>
          </a:bodyPr>
          <a:lstStyle/>
          <a:p>
            <a:pPr algn="ctr">
              <a:lnSpc>
                <a:spcPts val="2999"/>
              </a:lnSpc>
            </a:pPr>
            <a:r>
              <a:rPr lang="en-US" b="true" sz="2499" spc="-94">
                <a:solidFill>
                  <a:srgbClr val="5CE6E2"/>
                </a:solidFill>
                <a:latin typeface="Open Sauce Bold"/>
                <a:ea typeface="Open Sauce Bold"/>
                <a:cs typeface="Open Sauce Bold"/>
                <a:sym typeface="Open Sauce Bold"/>
              </a:rPr>
              <a:t>Class Distribution Plot</a:t>
            </a:r>
          </a:p>
        </p:txBody>
      </p:sp>
      <p:sp>
        <p:nvSpPr>
          <p:cNvPr name="TextBox 17" id="17"/>
          <p:cNvSpPr txBox="true"/>
          <p:nvPr/>
        </p:nvSpPr>
        <p:spPr>
          <a:xfrm rot="0">
            <a:off x="8190147" y="3559591"/>
            <a:ext cx="5858050" cy="371475"/>
          </a:xfrm>
          <a:prstGeom prst="rect">
            <a:avLst/>
          </a:prstGeom>
        </p:spPr>
        <p:txBody>
          <a:bodyPr anchor="t" rtlCol="false" tIns="0" lIns="0" bIns="0" rIns="0">
            <a:spAutoFit/>
          </a:bodyPr>
          <a:lstStyle/>
          <a:p>
            <a:pPr algn="ctr">
              <a:lnSpc>
                <a:spcPts val="2999"/>
              </a:lnSpc>
            </a:pPr>
            <a:r>
              <a:rPr lang="en-US" b="true" sz="2499" spc="-94">
                <a:solidFill>
                  <a:srgbClr val="5CE6E2"/>
                </a:solidFill>
                <a:latin typeface="Open Sauce Bold"/>
                <a:ea typeface="Open Sauce Bold"/>
                <a:cs typeface="Open Sauce Bold"/>
                <a:sym typeface="Open Sauce Bold"/>
              </a:rPr>
              <a:t>Analyze Missing Values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AutoShape 2" id="2"/>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grpSp>
        <p:nvGrpSpPr>
          <p:cNvPr name="Group 3" id="3"/>
          <p:cNvGrpSpPr/>
          <p:nvPr/>
        </p:nvGrpSpPr>
        <p:grpSpPr>
          <a:xfrm rot="0">
            <a:off x="14727993" y="2483860"/>
            <a:ext cx="5524303" cy="9155481"/>
            <a:chOff x="0" y="0"/>
            <a:chExt cx="2634764" cy="4366621"/>
          </a:xfrm>
        </p:grpSpPr>
        <p:sp>
          <p:nvSpPr>
            <p:cNvPr name="Freeform 4" id="4"/>
            <p:cNvSpPr/>
            <p:nvPr/>
          </p:nvSpPr>
          <p:spPr>
            <a:xfrm flipH="false" flipV="false" rot="0">
              <a:off x="0" y="0"/>
              <a:ext cx="2634764" cy="4366621"/>
            </a:xfrm>
            <a:custGeom>
              <a:avLst/>
              <a:gdLst/>
              <a:ahLst/>
              <a:cxnLst/>
              <a:rect r="r" b="b" t="t" l="l"/>
              <a:pathLst>
                <a:path h="4366621" w="2634764">
                  <a:moveTo>
                    <a:pt x="2396639" y="0"/>
                  </a:moveTo>
                  <a:lnTo>
                    <a:pt x="2634764" y="238125"/>
                  </a:lnTo>
                  <a:lnTo>
                    <a:pt x="2634764" y="4128496"/>
                  </a:lnTo>
                  <a:lnTo>
                    <a:pt x="2396639" y="4366621"/>
                  </a:lnTo>
                  <a:lnTo>
                    <a:pt x="238125" y="4366621"/>
                  </a:lnTo>
                  <a:lnTo>
                    <a:pt x="0" y="4128496"/>
                  </a:lnTo>
                  <a:lnTo>
                    <a:pt x="0" y="238125"/>
                  </a:lnTo>
                  <a:lnTo>
                    <a:pt x="238125" y="0"/>
                  </a:lnTo>
                  <a:lnTo>
                    <a:pt x="2396639" y="0"/>
                  </a:lnTo>
                  <a:close/>
                </a:path>
              </a:pathLst>
            </a:custGeom>
            <a:solidFill>
              <a:srgbClr val="031A25"/>
            </a:solidFill>
            <a:ln w="9525" cap="sq">
              <a:solidFill>
                <a:srgbClr val="5CE6E2"/>
              </a:solidFill>
              <a:prstDash val="solid"/>
              <a:miter/>
            </a:ln>
          </p:spPr>
        </p:sp>
        <p:sp>
          <p:nvSpPr>
            <p:cNvPr name="TextBox 5" id="5"/>
            <p:cNvSpPr txBox="true"/>
            <p:nvPr/>
          </p:nvSpPr>
          <p:spPr>
            <a:xfrm>
              <a:off x="63500" y="101600"/>
              <a:ext cx="2507764" cy="4201521"/>
            </a:xfrm>
            <a:prstGeom prst="rect">
              <a:avLst/>
            </a:prstGeom>
          </p:spPr>
          <p:txBody>
            <a:bodyPr anchor="ctr" rtlCol="false" tIns="50800" lIns="50800" bIns="50800" rIns="50800"/>
            <a:lstStyle/>
            <a:p>
              <a:pPr algn="ctr">
                <a:lnSpc>
                  <a:spcPts val="1218"/>
                </a:lnSpc>
              </a:pPr>
            </a:p>
          </p:txBody>
        </p:sp>
      </p:grpSp>
      <p:sp>
        <p:nvSpPr>
          <p:cNvPr name="Freeform 6" id="6"/>
          <p:cNvSpPr/>
          <p:nvPr/>
        </p:nvSpPr>
        <p:spPr>
          <a:xfrm flipH="false" flipV="false" rot="0">
            <a:off x="16902267" y="3409762"/>
            <a:ext cx="357033" cy="89258"/>
          </a:xfrm>
          <a:custGeom>
            <a:avLst/>
            <a:gdLst/>
            <a:ahLst/>
            <a:cxnLst/>
            <a:rect r="r" b="b" t="t" l="l"/>
            <a:pathLst>
              <a:path h="89258" w="357033">
                <a:moveTo>
                  <a:pt x="0" y="0"/>
                </a:moveTo>
                <a:lnTo>
                  <a:pt x="357033" y="0"/>
                </a:lnTo>
                <a:lnTo>
                  <a:pt x="357033" y="89258"/>
                </a:lnTo>
                <a:lnTo>
                  <a:pt x="0" y="892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27526" y="1758438"/>
            <a:ext cx="14208297" cy="1318099"/>
          </a:xfrm>
          <a:prstGeom prst="rect">
            <a:avLst/>
          </a:prstGeom>
        </p:spPr>
        <p:txBody>
          <a:bodyPr anchor="t" rtlCol="false" tIns="0" lIns="0" bIns="0" rIns="0">
            <a:spAutoFit/>
          </a:bodyPr>
          <a:lstStyle/>
          <a:p>
            <a:pPr algn="l">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PREPROCESSING</a:t>
            </a:r>
          </a:p>
        </p:txBody>
      </p:sp>
      <p:sp>
        <p:nvSpPr>
          <p:cNvPr name="TextBox 8" id="8"/>
          <p:cNvSpPr txBox="true"/>
          <p:nvPr/>
        </p:nvSpPr>
        <p:spPr>
          <a:xfrm rot="0">
            <a:off x="827526" y="3009862"/>
            <a:ext cx="13542080" cy="5443856"/>
          </a:xfrm>
          <a:prstGeom prst="rect">
            <a:avLst/>
          </a:prstGeom>
        </p:spPr>
        <p:txBody>
          <a:bodyPr anchor="t" rtlCol="false" tIns="0" lIns="0" bIns="0" rIns="0">
            <a:spAutoFit/>
          </a:bodyPr>
          <a:lstStyle/>
          <a:p>
            <a:pPr algn="just" marL="604513" indent="-302256" lvl="1">
              <a:lnSpc>
                <a:spcPts val="3919"/>
              </a:lnSpc>
              <a:spcBef>
                <a:spcPct val="0"/>
              </a:spcBef>
              <a:buFont typeface="Arial"/>
              <a:buChar char="•"/>
            </a:pPr>
            <a:r>
              <a:rPr lang="en-US" sz="2799" spc="-106">
                <a:solidFill>
                  <a:srgbClr val="FFFFFF"/>
                </a:solidFill>
                <a:latin typeface="Open Sauce"/>
                <a:ea typeface="Open Sauce"/>
                <a:cs typeface="Open Sauce"/>
                <a:sym typeface="Open Sauce"/>
              </a:rPr>
              <a:t>N</a:t>
            </a:r>
            <a:r>
              <a:rPr lang="en-US" sz="2799" spc="-106">
                <a:solidFill>
                  <a:srgbClr val="FFFFFF"/>
                </a:solidFill>
                <a:latin typeface="Open Sauce"/>
                <a:ea typeface="Open Sauce"/>
                <a:cs typeface="Open Sauce"/>
                <a:sym typeface="Open Sauce"/>
              </a:rPr>
              <a:t>o Missing Values: Dataset was already complete, so no imputation was required.</a:t>
            </a:r>
          </a:p>
          <a:p>
            <a:pPr algn="just" marL="604513" indent="-302256" lvl="1">
              <a:lnSpc>
                <a:spcPts val="3919"/>
              </a:lnSpc>
              <a:spcBef>
                <a:spcPct val="0"/>
              </a:spcBef>
              <a:buFont typeface="Arial"/>
              <a:buChar char="•"/>
            </a:pPr>
            <a:r>
              <a:rPr lang="en-US" sz="2799" spc="-106">
                <a:solidFill>
                  <a:srgbClr val="FFFFFF"/>
                </a:solidFill>
                <a:latin typeface="Open Sauce"/>
                <a:ea typeface="Open Sauce"/>
                <a:cs typeface="Open Sauce"/>
                <a:sym typeface="Open Sauce"/>
              </a:rPr>
              <a:t>Min–Max Normalization: All numerical features were scaled to the range [0, 1] to handle differences in feature scales.</a:t>
            </a:r>
          </a:p>
          <a:p>
            <a:pPr algn="just" marL="604513" indent="-302256" lvl="1">
              <a:lnSpc>
                <a:spcPts val="3919"/>
              </a:lnSpc>
              <a:spcBef>
                <a:spcPct val="0"/>
              </a:spcBef>
              <a:buFont typeface="Arial"/>
              <a:buChar char="•"/>
            </a:pPr>
            <a:r>
              <a:rPr lang="en-US" sz="2799" spc="-106">
                <a:solidFill>
                  <a:srgbClr val="FFFFFF"/>
                </a:solidFill>
                <a:latin typeface="Open Sauce"/>
                <a:ea typeface="Open Sauce"/>
                <a:cs typeface="Open Sauce"/>
                <a:sym typeface="Open Sauce"/>
              </a:rPr>
              <a:t>Outlier Removal (IQR): Extreme values were removed using the IQR method, reducing the dataset from 5000 —&gt; 4160 rows and improving data reliability.</a:t>
            </a:r>
          </a:p>
          <a:p>
            <a:pPr algn="just" marL="604513" indent="-302256" lvl="1">
              <a:lnSpc>
                <a:spcPts val="3919"/>
              </a:lnSpc>
              <a:spcBef>
                <a:spcPct val="0"/>
              </a:spcBef>
              <a:buFont typeface="Arial"/>
              <a:buChar char="•"/>
            </a:pPr>
            <a:r>
              <a:rPr lang="en-US" sz="2799" spc="-106">
                <a:solidFill>
                  <a:srgbClr val="FFFFFF"/>
                </a:solidFill>
                <a:latin typeface="Open Sauce"/>
                <a:ea typeface="Open Sauce"/>
                <a:cs typeface="Open Sauce"/>
                <a:sym typeface="Open Sauce"/>
              </a:rPr>
              <a:t>Discretization: Continuous numerical features were transformed into 3 bins to simplify patterns and reduce noise.</a:t>
            </a:r>
          </a:p>
          <a:p>
            <a:pPr algn="just" marL="604513" indent="-302256" lvl="1">
              <a:lnSpc>
                <a:spcPts val="3919"/>
              </a:lnSpc>
              <a:spcBef>
                <a:spcPct val="0"/>
              </a:spcBef>
              <a:buFont typeface="Arial"/>
              <a:buChar char="•"/>
            </a:pPr>
            <a:r>
              <a:rPr lang="en-US" sz="2799" spc="-106">
                <a:solidFill>
                  <a:srgbClr val="FFFFFF"/>
                </a:solidFill>
                <a:latin typeface="Open Sauce"/>
                <a:ea typeface="Open Sauce"/>
                <a:cs typeface="Open Sauce"/>
                <a:sym typeface="Open Sauce"/>
              </a:rPr>
              <a:t>Class Encoding: The Air Quality label was converted into numerical form for machine learning models.</a:t>
            </a:r>
          </a:p>
          <a:p>
            <a:pPr algn="just">
              <a:lnSpc>
                <a:spcPts val="391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Freeform 4" id="4"/>
          <p:cNvSpPr/>
          <p:nvPr/>
        </p:nvSpPr>
        <p:spPr>
          <a:xfrm flipH="false" flipV="false" rot="0">
            <a:off x="8848271" y="4338294"/>
            <a:ext cx="4541802" cy="5492087"/>
          </a:xfrm>
          <a:custGeom>
            <a:avLst/>
            <a:gdLst/>
            <a:ahLst/>
            <a:cxnLst/>
            <a:rect r="r" b="b" t="t" l="l"/>
            <a:pathLst>
              <a:path h="5492087" w="4541802">
                <a:moveTo>
                  <a:pt x="0" y="0"/>
                </a:moveTo>
                <a:lnTo>
                  <a:pt x="4541802" y="0"/>
                </a:lnTo>
                <a:lnTo>
                  <a:pt x="4541802" y="5492087"/>
                </a:lnTo>
                <a:lnTo>
                  <a:pt x="0" y="5492087"/>
                </a:lnTo>
                <a:lnTo>
                  <a:pt x="0" y="0"/>
                </a:lnTo>
                <a:close/>
              </a:path>
            </a:pathLst>
          </a:custGeom>
          <a:blipFill>
            <a:blip r:embed="rId4"/>
            <a:stretch>
              <a:fillRect l="0" t="0" r="0" b="0"/>
            </a:stretch>
          </a:blipFill>
        </p:spPr>
      </p:sp>
      <p:sp>
        <p:nvSpPr>
          <p:cNvPr name="Freeform 5" id="5"/>
          <p:cNvSpPr/>
          <p:nvPr/>
        </p:nvSpPr>
        <p:spPr>
          <a:xfrm flipH="false" flipV="false" rot="0">
            <a:off x="5271229" y="4275102"/>
            <a:ext cx="3353368" cy="5555280"/>
          </a:xfrm>
          <a:custGeom>
            <a:avLst/>
            <a:gdLst/>
            <a:ahLst/>
            <a:cxnLst/>
            <a:rect r="r" b="b" t="t" l="l"/>
            <a:pathLst>
              <a:path h="5555280" w="3353368">
                <a:moveTo>
                  <a:pt x="0" y="0"/>
                </a:moveTo>
                <a:lnTo>
                  <a:pt x="3353368" y="0"/>
                </a:lnTo>
                <a:lnTo>
                  <a:pt x="3353368" y="5555279"/>
                </a:lnTo>
                <a:lnTo>
                  <a:pt x="0" y="5555279"/>
                </a:lnTo>
                <a:lnTo>
                  <a:pt x="0" y="0"/>
                </a:lnTo>
                <a:close/>
              </a:path>
            </a:pathLst>
          </a:custGeom>
          <a:blipFill>
            <a:blip r:embed="rId5"/>
            <a:stretch>
              <a:fillRect l="0" t="-1137" r="0" b="0"/>
            </a:stretch>
          </a:blipFill>
        </p:spPr>
      </p:sp>
      <p:sp>
        <p:nvSpPr>
          <p:cNvPr name="TextBox 6" id="6"/>
          <p:cNvSpPr txBox="true"/>
          <p:nvPr/>
        </p:nvSpPr>
        <p:spPr>
          <a:xfrm rot="0">
            <a:off x="6716038" y="705164"/>
            <a:ext cx="905580" cy="172920"/>
          </a:xfrm>
          <a:prstGeom prst="rect">
            <a:avLst/>
          </a:prstGeom>
        </p:spPr>
        <p:txBody>
          <a:bodyPr anchor="t" rtlCol="false" tIns="0" lIns="0" bIns="0" rIns="0">
            <a:spAutoFit/>
          </a:bodyPr>
          <a:lstStyle/>
          <a:p>
            <a:pPr algn="ctr">
              <a:lnSpc>
                <a:spcPts val="1218"/>
              </a:lnSpc>
            </a:pPr>
            <a:r>
              <a:rPr lang="en-US" b="true" sz="1400" spc="-53">
                <a:solidFill>
                  <a:srgbClr val="5CE6E2"/>
                </a:solidFill>
                <a:latin typeface="Open Sauce Bold"/>
                <a:ea typeface="Open Sauce Bold"/>
                <a:cs typeface="Open Sauce Bold"/>
                <a:sym typeface="Open Sauce Bold"/>
              </a:rPr>
              <a:t>Home</a:t>
            </a:r>
          </a:p>
        </p:txBody>
      </p:sp>
      <p:sp>
        <p:nvSpPr>
          <p:cNvPr name="TextBox 7" id="7"/>
          <p:cNvSpPr txBox="true"/>
          <p:nvPr/>
        </p:nvSpPr>
        <p:spPr>
          <a:xfrm rot="0">
            <a:off x="7954136" y="705164"/>
            <a:ext cx="1030057"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Services</a:t>
            </a:r>
          </a:p>
        </p:txBody>
      </p:sp>
      <p:sp>
        <p:nvSpPr>
          <p:cNvPr name="TextBox 8" id="8"/>
          <p:cNvSpPr txBox="true"/>
          <p:nvPr/>
        </p:nvSpPr>
        <p:spPr>
          <a:xfrm rot="0">
            <a:off x="9316711" y="705164"/>
            <a:ext cx="1017153"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Solution</a:t>
            </a:r>
          </a:p>
        </p:txBody>
      </p:sp>
      <p:sp>
        <p:nvSpPr>
          <p:cNvPr name="TextBox 9" id="9"/>
          <p:cNvSpPr txBox="true"/>
          <p:nvPr/>
        </p:nvSpPr>
        <p:spPr>
          <a:xfrm rot="0">
            <a:off x="10666382" y="705164"/>
            <a:ext cx="905580"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About</a:t>
            </a:r>
          </a:p>
        </p:txBody>
      </p:sp>
      <p:sp>
        <p:nvSpPr>
          <p:cNvPr name="TextBox 10" id="10"/>
          <p:cNvSpPr txBox="true"/>
          <p:nvPr/>
        </p:nvSpPr>
        <p:spPr>
          <a:xfrm rot="0">
            <a:off x="1028700" y="1758438"/>
            <a:ext cx="14208297" cy="1318099"/>
          </a:xfrm>
          <a:prstGeom prst="rect">
            <a:avLst/>
          </a:prstGeom>
        </p:spPr>
        <p:txBody>
          <a:bodyPr anchor="t" rtlCol="false" tIns="0" lIns="0" bIns="0" rIns="0">
            <a:spAutoFit/>
          </a:bodyPr>
          <a:lstStyle/>
          <a:p>
            <a:pPr algn="l">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PREPROCESSING</a:t>
            </a:r>
          </a:p>
        </p:txBody>
      </p:sp>
      <p:sp>
        <p:nvSpPr>
          <p:cNvPr name="TextBox 11" id="11"/>
          <p:cNvSpPr txBox="true"/>
          <p:nvPr/>
        </p:nvSpPr>
        <p:spPr>
          <a:xfrm rot="0">
            <a:off x="8074492" y="3019387"/>
            <a:ext cx="2484438" cy="480708"/>
          </a:xfrm>
          <a:prstGeom prst="rect">
            <a:avLst/>
          </a:prstGeom>
        </p:spPr>
        <p:txBody>
          <a:bodyPr anchor="t" rtlCol="false" tIns="0" lIns="0" bIns="0" rIns="0">
            <a:spAutoFit/>
          </a:bodyPr>
          <a:lstStyle/>
          <a:p>
            <a:pPr algn="ctr">
              <a:lnSpc>
                <a:spcPts val="3954"/>
              </a:lnSpc>
              <a:spcBef>
                <a:spcPct val="0"/>
              </a:spcBef>
            </a:pPr>
            <a:r>
              <a:rPr lang="en-US" b="true" sz="2824" spc="-234">
                <a:solidFill>
                  <a:srgbClr val="FFFFFF"/>
                </a:solidFill>
                <a:latin typeface="Bricolage Grotesque Medium"/>
                <a:ea typeface="Bricolage Grotesque Medium"/>
                <a:cs typeface="Bricolage Grotesque Medium"/>
                <a:sym typeface="Bricolage Grotesque Medium"/>
              </a:rPr>
              <a:t>NORMALIZATION:</a:t>
            </a:r>
          </a:p>
        </p:txBody>
      </p:sp>
      <p:sp>
        <p:nvSpPr>
          <p:cNvPr name="TextBox 12" id="12"/>
          <p:cNvSpPr txBox="true"/>
          <p:nvPr/>
        </p:nvSpPr>
        <p:spPr>
          <a:xfrm rot="0">
            <a:off x="4775651" y="3583115"/>
            <a:ext cx="9123363" cy="349250"/>
          </a:xfrm>
          <a:prstGeom prst="rect">
            <a:avLst/>
          </a:prstGeom>
        </p:spPr>
        <p:txBody>
          <a:bodyPr anchor="t" rtlCol="false" tIns="0" lIns="0" bIns="0" rIns="0">
            <a:spAutoFit/>
          </a:bodyPr>
          <a:lstStyle/>
          <a:p>
            <a:pPr algn="ctr">
              <a:lnSpc>
                <a:spcPts val="2800"/>
              </a:lnSpc>
            </a:pPr>
            <a:r>
              <a:rPr lang="en-US" sz="2000">
                <a:solidFill>
                  <a:srgbClr val="FFFFFF"/>
                </a:solidFill>
                <a:latin typeface="Canva Sans"/>
                <a:ea typeface="Canva Sans"/>
                <a:cs typeface="Canva Sans"/>
                <a:sym typeface="Canva Sans"/>
              </a:rPr>
              <a:t>All numerical features were rescaled to [0, 1] for consistent feature scaling.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Freeform 4" id="4"/>
          <p:cNvSpPr/>
          <p:nvPr/>
        </p:nvSpPr>
        <p:spPr>
          <a:xfrm flipH="false" flipV="false" rot="0">
            <a:off x="2732132" y="4934670"/>
            <a:ext cx="4087039" cy="4619390"/>
          </a:xfrm>
          <a:custGeom>
            <a:avLst/>
            <a:gdLst/>
            <a:ahLst/>
            <a:cxnLst/>
            <a:rect r="r" b="b" t="t" l="l"/>
            <a:pathLst>
              <a:path h="4619390" w="4087039">
                <a:moveTo>
                  <a:pt x="0" y="0"/>
                </a:moveTo>
                <a:lnTo>
                  <a:pt x="4087039" y="0"/>
                </a:lnTo>
                <a:lnTo>
                  <a:pt x="4087039" y="4619389"/>
                </a:lnTo>
                <a:lnTo>
                  <a:pt x="0" y="4619389"/>
                </a:lnTo>
                <a:lnTo>
                  <a:pt x="0" y="0"/>
                </a:lnTo>
                <a:close/>
              </a:path>
            </a:pathLst>
          </a:custGeom>
          <a:blipFill>
            <a:blip r:embed="rId4"/>
            <a:stretch>
              <a:fillRect l="0" t="0" r="-176514" b="0"/>
            </a:stretch>
          </a:blipFill>
        </p:spPr>
      </p:sp>
      <p:sp>
        <p:nvSpPr>
          <p:cNvPr name="Freeform 5" id="5"/>
          <p:cNvSpPr/>
          <p:nvPr/>
        </p:nvSpPr>
        <p:spPr>
          <a:xfrm flipH="false" flipV="false" rot="0">
            <a:off x="10837943" y="4990025"/>
            <a:ext cx="3955537" cy="4564034"/>
          </a:xfrm>
          <a:custGeom>
            <a:avLst/>
            <a:gdLst/>
            <a:ahLst/>
            <a:cxnLst/>
            <a:rect r="r" b="b" t="t" l="l"/>
            <a:pathLst>
              <a:path h="4564034" w="3955537">
                <a:moveTo>
                  <a:pt x="0" y="0"/>
                </a:moveTo>
                <a:lnTo>
                  <a:pt x="3955537" y="0"/>
                </a:lnTo>
                <a:lnTo>
                  <a:pt x="3955537" y="4564034"/>
                </a:lnTo>
                <a:lnTo>
                  <a:pt x="0" y="4564034"/>
                </a:lnTo>
                <a:lnTo>
                  <a:pt x="0" y="0"/>
                </a:lnTo>
                <a:close/>
              </a:path>
            </a:pathLst>
          </a:custGeom>
          <a:blipFill>
            <a:blip r:embed="rId5"/>
            <a:stretch>
              <a:fillRect l="0" t="-6658" r="-185707" b="-6935"/>
            </a:stretch>
          </a:blipFill>
        </p:spPr>
      </p:sp>
      <p:sp>
        <p:nvSpPr>
          <p:cNvPr name="TextBox 6" id="6"/>
          <p:cNvSpPr txBox="true"/>
          <p:nvPr/>
        </p:nvSpPr>
        <p:spPr>
          <a:xfrm rot="0">
            <a:off x="6716038" y="705164"/>
            <a:ext cx="905580" cy="172920"/>
          </a:xfrm>
          <a:prstGeom prst="rect">
            <a:avLst/>
          </a:prstGeom>
        </p:spPr>
        <p:txBody>
          <a:bodyPr anchor="t" rtlCol="false" tIns="0" lIns="0" bIns="0" rIns="0">
            <a:spAutoFit/>
          </a:bodyPr>
          <a:lstStyle/>
          <a:p>
            <a:pPr algn="ctr">
              <a:lnSpc>
                <a:spcPts val="1218"/>
              </a:lnSpc>
            </a:pPr>
            <a:r>
              <a:rPr lang="en-US" b="true" sz="1400" spc="-53">
                <a:solidFill>
                  <a:srgbClr val="5CE6E2"/>
                </a:solidFill>
                <a:latin typeface="Open Sauce Bold"/>
                <a:ea typeface="Open Sauce Bold"/>
                <a:cs typeface="Open Sauce Bold"/>
                <a:sym typeface="Open Sauce Bold"/>
              </a:rPr>
              <a:t>Home</a:t>
            </a:r>
          </a:p>
        </p:txBody>
      </p:sp>
      <p:sp>
        <p:nvSpPr>
          <p:cNvPr name="TextBox 7" id="7"/>
          <p:cNvSpPr txBox="true"/>
          <p:nvPr/>
        </p:nvSpPr>
        <p:spPr>
          <a:xfrm rot="0">
            <a:off x="7954136" y="705164"/>
            <a:ext cx="1030057"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Services</a:t>
            </a:r>
          </a:p>
        </p:txBody>
      </p:sp>
      <p:sp>
        <p:nvSpPr>
          <p:cNvPr name="TextBox 8" id="8"/>
          <p:cNvSpPr txBox="true"/>
          <p:nvPr/>
        </p:nvSpPr>
        <p:spPr>
          <a:xfrm rot="0">
            <a:off x="9316711" y="705164"/>
            <a:ext cx="1017153"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Solution</a:t>
            </a:r>
          </a:p>
        </p:txBody>
      </p:sp>
      <p:sp>
        <p:nvSpPr>
          <p:cNvPr name="TextBox 9" id="9"/>
          <p:cNvSpPr txBox="true"/>
          <p:nvPr/>
        </p:nvSpPr>
        <p:spPr>
          <a:xfrm rot="0">
            <a:off x="10666382" y="705164"/>
            <a:ext cx="905580"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About</a:t>
            </a:r>
          </a:p>
        </p:txBody>
      </p:sp>
      <p:sp>
        <p:nvSpPr>
          <p:cNvPr name="TextBox 10" id="10"/>
          <p:cNvSpPr txBox="true"/>
          <p:nvPr/>
        </p:nvSpPr>
        <p:spPr>
          <a:xfrm rot="0">
            <a:off x="1028700" y="1758438"/>
            <a:ext cx="14208297" cy="1318099"/>
          </a:xfrm>
          <a:prstGeom prst="rect">
            <a:avLst/>
          </a:prstGeom>
        </p:spPr>
        <p:txBody>
          <a:bodyPr anchor="t" rtlCol="false" tIns="0" lIns="0" bIns="0" rIns="0">
            <a:spAutoFit/>
          </a:bodyPr>
          <a:lstStyle/>
          <a:p>
            <a:pPr algn="l">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PREPROCESSING</a:t>
            </a:r>
          </a:p>
        </p:txBody>
      </p:sp>
      <p:sp>
        <p:nvSpPr>
          <p:cNvPr name="TextBox 11" id="11"/>
          <p:cNvSpPr txBox="true"/>
          <p:nvPr/>
        </p:nvSpPr>
        <p:spPr>
          <a:xfrm rot="0">
            <a:off x="3515440" y="4446715"/>
            <a:ext cx="3200599" cy="372745"/>
          </a:xfrm>
          <a:prstGeom prst="rect">
            <a:avLst/>
          </a:prstGeom>
        </p:spPr>
        <p:txBody>
          <a:bodyPr anchor="t" rtlCol="false" tIns="0" lIns="0" bIns="0" rIns="0">
            <a:spAutoFit/>
          </a:bodyPr>
          <a:lstStyle/>
          <a:p>
            <a:pPr algn="ctr">
              <a:lnSpc>
                <a:spcPts val="3079"/>
              </a:lnSpc>
              <a:spcBef>
                <a:spcPct val="0"/>
              </a:spcBef>
            </a:pPr>
            <a:r>
              <a:rPr lang="en-US" sz="2199" spc="-83">
                <a:solidFill>
                  <a:srgbClr val="FFFFFF"/>
                </a:solidFill>
                <a:latin typeface="Open Sauce"/>
                <a:ea typeface="Open Sauce"/>
                <a:cs typeface="Open Sauce"/>
                <a:sym typeface="Open Sauce"/>
              </a:rPr>
              <a:t>Before Removing Outliers</a:t>
            </a:r>
          </a:p>
        </p:txBody>
      </p:sp>
      <p:sp>
        <p:nvSpPr>
          <p:cNvPr name="TextBox 12" id="12"/>
          <p:cNvSpPr txBox="true"/>
          <p:nvPr/>
        </p:nvSpPr>
        <p:spPr>
          <a:xfrm rot="0">
            <a:off x="11334673" y="4446715"/>
            <a:ext cx="2962077" cy="372745"/>
          </a:xfrm>
          <a:prstGeom prst="rect">
            <a:avLst/>
          </a:prstGeom>
        </p:spPr>
        <p:txBody>
          <a:bodyPr anchor="t" rtlCol="false" tIns="0" lIns="0" bIns="0" rIns="0">
            <a:spAutoFit/>
          </a:bodyPr>
          <a:lstStyle/>
          <a:p>
            <a:pPr algn="ctr">
              <a:lnSpc>
                <a:spcPts val="3079"/>
              </a:lnSpc>
              <a:spcBef>
                <a:spcPct val="0"/>
              </a:spcBef>
            </a:pPr>
            <a:r>
              <a:rPr lang="en-US" sz="2199" spc="-83">
                <a:solidFill>
                  <a:srgbClr val="FFFFFF"/>
                </a:solidFill>
                <a:latin typeface="Open Sauce"/>
                <a:ea typeface="Open Sauce"/>
                <a:cs typeface="Open Sauce"/>
                <a:sym typeface="Open Sauce"/>
              </a:rPr>
              <a:t>After Removing Outliers</a:t>
            </a:r>
          </a:p>
        </p:txBody>
      </p:sp>
      <p:grpSp>
        <p:nvGrpSpPr>
          <p:cNvPr name="Group 13" id="13"/>
          <p:cNvGrpSpPr/>
          <p:nvPr/>
        </p:nvGrpSpPr>
        <p:grpSpPr>
          <a:xfrm rot="0">
            <a:off x="11196638" y="6211253"/>
            <a:ext cx="348615" cy="195262"/>
            <a:chOff x="0" y="0"/>
            <a:chExt cx="464820" cy="260350"/>
          </a:xfrm>
        </p:grpSpPr>
        <p:sp>
          <p:nvSpPr>
            <p:cNvPr name="Freeform 14" id="14"/>
            <p:cNvSpPr/>
            <p:nvPr/>
          </p:nvSpPr>
          <p:spPr>
            <a:xfrm flipH="false" flipV="false" rot="0">
              <a:off x="50731" y="45235"/>
              <a:ext cx="366146" cy="163045"/>
            </a:xfrm>
            <a:custGeom>
              <a:avLst/>
              <a:gdLst/>
              <a:ahLst/>
              <a:cxnLst/>
              <a:rect r="r" b="b" t="t" l="l"/>
              <a:pathLst>
                <a:path h="163045" w="366146">
                  <a:moveTo>
                    <a:pt x="289629" y="161775"/>
                  </a:moveTo>
                  <a:cubicBezTo>
                    <a:pt x="55949" y="159235"/>
                    <a:pt x="43249" y="157965"/>
                    <a:pt x="30549" y="146535"/>
                  </a:cubicBezTo>
                  <a:cubicBezTo>
                    <a:pt x="15309" y="133835"/>
                    <a:pt x="-1201" y="102085"/>
                    <a:pt x="69" y="80495"/>
                  </a:cubicBezTo>
                  <a:cubicBezTo>
                    <a:pt x="1339" y="57635"/>
                    <a:pt x="19119" y="28425"/>
                    <a:pt x="38169" y="16995"/>
                  </a:cubicBezTo>
                  <a:cubicBezTo>
                    <a:pt x="55949" y="5565"/>
                    <a:pt x="92779" y="5565"/>
                    <a:pt x="111829" y="13185"/>
                  </a:cubicBezTo>
                  <a:cubicBezTo>
                    <a:pt x="127069" y="18265"/>
                    <a:pt x="141039" y="33505"/>
                    <a:pt x="148659" y="47475"/>
                  </a:cubicBezTo>
                  <a:cubicBezTo>
                    <a:pt x="156279" y="61445"/>
                    <a:pt x="158819" y="81765"/>
                    <a:pt x="156279" y="97005"/>
                  </a:cubicBezTo>
                  <a:cubicBezTo>
                    <a:pt x="153739" y="112245"/>
                    <a:pt x="144849" y="130025"/>
                    <a:pt x="132149" y="141455"/>
                  </a:cubicBezTo>
                  <a:cubicBezTo>
                    <a:pt x="120719" y="152885"/>
                    <a:pt x="104209" y="161775"/>
                    <a:pt x="86429" y="163045"/>
                  </a:cubicBezTo>
                  <a:cubicBezTo>
                    <a:pt x="66109" y="163045"/>
                    <a:pt x="33089" y="151615"/>
                    <a:pt x="17849" y="135105"/>
                  </a:cubicBezTo>
                  <a:cubicBezTo>
                    <a:pt x="3879" y="118595"/>
                    <a:pt x="-1201" y="83035"/>
                    <a:pt x="2609" y="62715"/>
                  </a:cubicBezTo>
                  <a:cubicBezTo>
                    <a:pt x="5149" y="46205"/>
                    <a:pt x="17849" y="30965"/>
                    <a:pt x="30549" y="20805"/>
                  </a:cubicBezTo>
                  <a:cubicBezTo>
                    <a:pt x="43249" y="11915"/>
                    <a:pt x="55949" y="9375"/>
                    <a:pt x="78809" y="5565"/>
                  </a:cubicBezTo>
                  <a:cubicBezTo>
                    <a:pt x="123259" y="-2055"/>
                    <a:pt x="243909" y="-2055"/>
                    <a:pt x="289629" y="6835"/>
                  </a:cubicBezTo>
                  <a:cubicBezTo>
                    <a:pt x="313759" y="10645"/>
                    <a:pt x="328999" y="16995"/>
                    <a:pt x="341699" y="25885"/>
                  </a:cubicBezTo>
                  <a:cubicBezTo>
                    <a:pt x="351859" y="34775"/>
                    <a:pt x="359479" y="44935"/>
                    <a:pt x="363289" y="56365"/>
                  </a:cubicBezTo>
                  <a:cubicBezTo>
                    <a:pt x="367099" y="71605"/>
                    <a:pt x="367099" y="97005"/>
                    <a:pt x="363289" y="112245"/>
                  </a:cubicBezTo>
                  <a:cubicBezTo>
                    <a:pt x="359479" y="123675"/>
                    <a:pt x="351859" y="133835"/>
                    <a:pt x="341699" y="142725"/>
                  </a:cubicBezTo>
                  <a:cubicBezTo>
                    <a:pt x="328999" y="151615"/>
                    <a:pt x="289629" y="161775"/>
                    <a:pt x="289629" y="161775"/>
                  </a:cubicBezTo>
                </a:path>
              </a:pathLst>
            </a:custGeom>
            <a:solidFill>
              <a:srgbClr val="E7191F"/>
            </a:solidFill>
            <a:ln cap="sq">
              <a:noFill/>
              <a:prstDash val="solid"/>
              <a:miter/>
            </a:ln>
          </p:spPr>
        </p:sp>
      </p:grpSp>
      <p:grpSp>
        <p:nvGrpSpPr>
          <p:cNvPr name="Group 15" id="15"/>
          <p:cNvGrpSpPr/>
          <p:nvPr/>
        </p:nvGrpSpPr>
        <p:grpSpPr>
          <a:xfrm rot="0">
            <a:off x="11198543" y="6214110"/>
            <a:ext cx="188595" cy="184785"/>
            <a:chOff x="0" y="0"/>
            <a:chExt cx="251460" cy="246380"/>
          </a:xfrm>
        </p:grpSpPr>
        <p:sp>
          <p:nvSpPr>
            <p:cNvPr name="Freeform 16" id="16"/>
            <p:cNvSpPr/>
            <p:nvPr/>
          </p:nvSpPr>
          <p:spPr>
            <a:xfrm flipH="false" flipV="false" rot="0">
              <a:off x="50636" y="50749"/>
              <a:ext cx="148754" cy="147474"/>
            </a:xfrm>
            <a:custGeom>
              <a:avLst/>
              <a:gdLst/>
              <a:ahLst/>
              <a:cxnLst/>
              <a:rect r="r" b="b" t="t" l="l"/>
              <a:pathLst>
                <a:path h="147474" w="148754">
                  <a:moveTo>
                    <a:pt x="148754" y="52121"/>
                  </a:moveTo>
                  <a:cubicBezTo>
                    <a:pt x="129704" y="133401"/>
                    <a:pt x="119544" y="141021"/>
                    <a:pt x="106844" y="144831"/>
                  </a:cubicBezTo>
                  <a:cubicBezTo>
                    <a:pt x="90334" y="149911"/>
                    <a:pt x="53504" y="147371"/>
                    <a:pt x="36994" y="139751"/>
                  </a:cubicBezTo>
                  <a:cubicBezTo>
                    <a:pt x="24294" y="134671"/>
                    <a:pt x="16674" y="124511"/>
                    <a:pt x="10324" y="114351"/>
                  </a:cubicBezTo>
                  <a:cubicBezTo>
                    <a:pt x="5244" y="104191"/>
                    <a:pt x="-1106" y="92761"/>
                    <a:pt x="164" y="80061"/>
                  </a:cubicBezTo>
                  <a:cubicBezTo>
                    <a:pt x="1434" y="61011"/>
                    <a:pt x="16674" y="27991"/>
                    <a:pt x="29374" y="15291"/>
                  </a:cubicBezTo>
                  <a:cubicBezTo>
                    <a:pt x="38264" y="5131"/>
                    <a:pt x="49694" y="1321"/>
                    <a:pt x="62394" y="51"/>
                  </a:cubicBezTo>
                  <a:cubicBezTo>
                    <a:pt x="80174" y="-1219"/>
                    <a:pt x="129704" y="21641"/>
                    <a:pt x="129704" y="21641"/>
                  </a:cubicBezTo>
                </a:path>
              </a:pathLst>
            </a:custGeom>
            <a:solidFill>
              <a:srgbClr val="E7191F"/>
            </a:solidFill>
            <a:ln cap="sq">
              <a:noFill/>
              <a:prstDash val="solid"/>
              <a:miter/>
            </a:ln>
          </p:spPr>
        </p:sp>
      </p:grpSp>
      <p:grpSp>
        <p:nvGrpSpPr>
          <p:cNvPr name="Group 17" id="17"/>
          <p:cNvGrpSpPr/>
          <p:nvPr/>
        </p:nvGrpSpPr>
        <p:grpSpPr>
          <a:xfrm rot="0">
            <a:off x="11280457" y="7675245"/>
            <a:ext cx="350520" cy="197167"/>
            <a:chOff x="0" y="0"/>
            <a:chExt cx="467360" cy="262890"/>
          </a:xfrm>
        </p:grpSpPr>
        <p:sp>
          <p:nvSpPr>
            <p:cNvPr name="Freeform 18" id="18"/>
            <p:cNvSpPr/>
            <p:nvPr/>
          </p:nvSpPr>
          <p:spPr>
            <a:xfrm flipH="false" flipV="false" rot="0">
              <a:off x="50736" y="46315"/>
              <a:ext cx="369692" cy="165775"/>
            </a:xfrm>
            <a:custGeom>
              <a:avLst/>
              <a:gdLst/>
              <a:ahLst/>
              <a:cxnLst/>
              <a:rect r="r" b="b" t="t" l="l"/>
              <a:pathLst>
                <a:path h="165775" w="369692">
                  <a:moveTo>
                    <a:pt x="292164" y="163235"/>
                  </a:moveTo>
                  <a:cubicBezTo>
                    <a:pt x="58484" y="161965"/>
                    <a:pt x="44514" y="160695"/>
                    <a:pt x="31814" y="149265"/>
                  </a:cubicBezTo>
                  <a:cubicBezTo>
                    <a:pt x="16574" y="135295"/>
                    <a:pt x="-1206" y="103545"/>
                    <a:pt x="64" y="80685"/>
                  </a:cubicBezTo>
                  <a:cubicBezTo>
                    <a:pt x="1334" y="59095"/>
                    <a:pt x="22924" y="28615"/>
                    <a:pt x="39434" y="15915"/>
                  </a:cubicBezTo>
                  <a:cubicBezTo>
                    <a:pt x="53404" y="7025"/>
                    <a:pt x="73724" y="3215"/>
                    <a:pt x="88964" y="5755"/>
                  </a:cubicBezTo>
                  <a:cubicBezTo>
                    <a:pt x="105474" y="7025"/>
                    <a:pt x="124524" y="14645"/>
                    <a:pt x="135954" y="27345"/>
                  </a:cubicBezTo>
                  <a:cubicBezTo>
                    <a:pt x="149924" y="42585"/>
                    <a:pt x="161354" y="78145"/>
                    <a:pt x="160084" y="98465"/>
                  </a:cubicBezTo>
                  <a:cubicBezTo>
                    <a:pt x="158814" y="114975"/>
                    <a:pt x="147384" y="132755"/>
                    <a:pt x="135954" y="144185"/>
                  </a:cubicBezTo>
                  <a:cubicBezTo>
                    <a:pt x="124524" y="154345"/>
                    <a:pt x="106744" y="164505"/>
                    <a:pt x="88964" y="165775"/>
                  </a:cubicBezTo>
                  <a:cubicBezTo>
                    <a:pt x="68644" y="165775"/>
                    <a:pt x="34354" y="154345"/>
                    <a:pt x="19114" y="137835"/>
                  </a:cubicBezTo>
                  <a:cubicBezTo>
                    <a:pt x="5144" y="120055"/>
                    <a:pt x="-1206" y="84495"/>
                    <a:pt x="3874" y="64175"/>
                  </a:cubicBezTo>
                  <a:cubicBezTo>
                    <a:pt x="6414" y="46395"/>
                    <a:pt x="19114" y="31155"/>
                    <a:pt x="31814" y="20995"/>
                  </a:cubicBezTo>
                  <a:cubicBezTo>
                    <a:pt x="44514" y="12105"/>
                    <a:pt x="58484" y="8295"/>
                    <a:pt x="81344" y="4485"/>
                  </a:cubicBezTo>
                  <a:cubicBezTo>
                    <a:pt x="125794" y="-1865"/>
                    <a:pt x="246444" y="-1865"/>
                    <a:pt x="292164" y="7025"/>
                  </a:cubicBezTo>
                  <a:cubicBezTo>
                    <a:pt x="316294" y="12105"/>
                    <a:pt x="331534" y="17185"/>
                    <a:pt x="344234" y="27345"/>
                  </a:cubicBezTo>
                  <a:cubicBezTo>
                    <a:pt x="354394" y="34965"/>
                    <a:pt x="362014" y="45125"/>
                    <a:pt x="365824" y="57825"/>
                  </a:cubicBezTo>
                  <a:cubicBezTo>
                    <a:pt x="369634" y="73065"/>
                    <a:pt x="372174" y="97195"/>
                    <a:pt x="365824" y="112435"/>
                  </a:cubicBezTo>
                  <a:cubicBezTo>
                    <a:pt x="359474" y="128945"/>
                    <a:pt x="342964" y="146725"/>
                    <a:pt x="328994" y="154345"/>
                  </a:cubicBezTo>
                  <a:cubicBezTo>
                    <a:pt x="317564" y="160695"/>
                    <a:pt x="292164" y="163235"/>
                    <a:pt x="292164" y="163235"/>
                  </a:cubicBezTo>
                </a:path>
              </a:pathLst>
            </a:custGeom>
            <a:solidFill>
              <a:srgbClr val="E7191F"/>
            </a:solidFill>
            <a:ln cap="sq">
              <a:noFill/>
              <a:prstDash val="solid"/>
              <a:miter/>
            </a:ln>
          </p:spPr>
        </p:sp>
      </p:grpSp>
      <p:grpSp>
        <p:nvGrpSpPr>
          <p:cNvPr name="Group 19" id="19"/>
          <p:cNvGrpSpPr/>
          <p:nvPr/>
        </p:nvGrpSpPr>
        <p:grpSpPr>
          <a:xfrm rot="0">
            <a:off x="11284268" y="7680007"/>
            <a:ext cx="188595" cy="184785"/>
            <a:chOff x="0" y="0"/>
            <a:chExt cx="251460" cy="246380"/>
          </a:xfrm>
        </p:grpSpPr>
        <p:sp>
          <p:nvSpPr>
            <p:cNvPr name="Freeform 20" id="20"/>
            <p:cNvSpPr/>
            <p:nvPr/>
          </p:nvSpPr>
          <p:spPr>
            <a:xfrm flipH="false" flipV="false" rot="0">
              <a:off x="50604" y="50746"/>
              <a:ext cx="148786" cy="147163"/>
            </a:xfrm>
            <a:custGeom>
              <a:avLst/>
              <a:gdLst/>
              <a:ahLst/>
              <a:cxnLst/>
              <a:rect r="r" b="b" t="t" l="l"/>
              <a:pathLst>
                <a:path h="147163" w="148786">
                  <a:moveTo>
                    <a:pt x="148786" y="52124"/>
                  </a:moveTo>
                  <a:cubicBezTo>
                    <a:pt x="128466" y="133404"/>
                    <a:pt x="119576" y="139754"/>
                    <a:pt x="106876" y="143564"/>
                  </a:cubicBezTo>
                  <a:cubicBezTo>
                    <a:pt x="89096" y="149914"/>
                    <a:pt x="53536" y="147374"/>
                    <a:pt x="37026" y="139754"/>
                  </a:cubicBezTo>
                  <a:cubicBezTo>
                    <a:pt x="24326" y="134674"/>
                    <a:pt x="16706" y="124514"/>
                    <a:pt x="10356" y="114354"/>
                  </a:cubicBezTo>
                  <a:cubicBezTo>
                    <a:pt x="4006" y="104194"/>
                    <a:pt x="-1074" y="92764"/>
                    <a:pt x="196" y="78794"/>
                  </a:cubicBezTo>
                  <a:cubicBezTo>
                    <a:pt x="1466" y="61014"/>
                    <a:pt x="15436" y="27994"/>
                    <a:pt x="29406" y="14024"/>
                  </a:cubicBezTo>
                  <a:cubicBezTo>
                    <a:pt x="38296" y="5134"/>
                    <a:pt x="48456" y="54"/>
                    <a:pt x="62426" y="54"/>
                  </a:cubicBezTo>
                  <a:cubicBezTo>
                    <a:pt x="80206" y="-1216"/>
                    <a:pt x="129736" y="20374"/>
                    <a:pt x="129736" y="20374"/>
                  </a:cubicBezTo>
                </a:path>
              </a:pathLst>
            </a:custGeom>
            <a:solidFill>
              <a:srgbClr val="E7191F"/>
            </a:solidFill>
            <a:ln cap="sq">
              <a:noFill/>
              <a:prstDash val="solid"/>
              <a:miter/>
            </a:ln>
          </p:spPr>
        </p:sp>
      </p:grpSp>
      <p:grpSp>
        <p:nvGrpSpPr>
          <p:cNvPr name="Group 21" id="21"/>
          <p:cNvGrpSpPr/>
          <p:nvPr/>
        </p:nvGrpSpPr>
        <p:grpSpPr>
          <a:xfrm rot="0">
            <a:off x="11172825" y="9250680"/>
            <a:ext cx="437197" cy="197167"/>
            <a:chOff x="0" y="0"/>
            <a:chExt cx="582930" cy="262890"/>
          </a:xfrm>
        </p:grpSpPr>
        <p:sp>
          <p:nvSpPr>
            <p:cNvPr name="Freeform 22" id="22"/>
            <p:cNvSpPr/>
            <p:nvPr/>
          </p:nvSpPr>
          <p:spPr>
            <a:xfrm flipH="false" flipV="false" rot="0">
              <a:off x="47122" y="45131"/>
              <a:ext cx="485170" cy="168087"/>
            </a:xfrm>
            <a:custGeom>
              <a:avLst/>
              <a:gdLst/>
              <a:ahLst/>
              <a:cxnLst/>
              <a:rect r="r" b="b" t="t" l="l"/>
              <a:pathLst>
                <a:path h="168087" w="485170">
                  <a:moveTo>
                    <a:pt x="407538" y="164419"/>
                  </a:moveTo>
                  <a:cubicBezTo>
                    <a:pt x="26538" y="150449"/>
                    <a:pt x="11298" y="127589"/>
                    <a:pt x="3678" y="108539"/>
                  </a:cubicBezTo>
                  <a:cubicBezTo>
                    <a:pt x="-2672" y="92029"/>
                    <a:pt x="-132" y="71709"/>
                    <a:pt x="6218" y="56469"/>
                  </a:cubicBezTo>
                  <a:cubicBezTo>
                    <a:pt x="12568" y="41229"/>
                    <a:pt x="25268" y="25989"/>
                    <a:pt x="39238" y="17099"/>
                  </a:cubicBezTo>
                  <a:cubicBezTo>
                    <a:pt x="53208" y="9479"/>
                    <a:pt x="73528" y="3129"/>
                    <a:pt x="90038" y="6939"/>
                  </a:cubicBezTo>
                  <a:cubicBezTo>
                    <a:pt x="110358" y="10749"/>
                    <a:pt x="142108" y="29799"/>
                    <a:pt x="152268" y="48849"/>
                  </a:cubicBezTo>
                  <a:cubicBezTo>
                    <a:pt x="163698" y="69169"/>
                    <a:pt x="163698" y="104729"/>
                    <a:pt x="152268" y="125049"/>
                  </a:cubicBezTo>
                  <a:cubicBezTo>
                    <a:pt x="142108" y="144099"/>
                    <a:pt x="110358" y="163149"/>
                    <a:pt x="90038" y="166959"/>
                  </a:cubicBezTo>
                  <a:cubicBezTo>
                    <a:pt x="73528" y="170769"/>
                    <a:pt x="53208" y="164419"/>
                    <a:pt x="39238" y="155529"/>
                  </a:cubicBezTo>
                  <a:cubicBezTo>
                    <a:pt x="25268" y="147909"/>
                    <a:pt x="12568" y="131399"/>
                    <a:pt x="6218" y="116159"/>
                  </a:cubicBezTo>
                  <a:cubicBezTo>
                    <a:pt x="-132" y="100919"/>
                    <a:pt x="-1402" y="80599"/>
                    <a:pt x="3678" y="65359"/>
                  </a:cubicBezTo>
                  <a:cubicBezTo>
                    <a:pt x="7488" y="48849"/>
                    <a:pt x="18918" y="32339"/>
                    <a:pt x="32888" y="22179"/>
                  </a:cubicBezTo>
                  <a:cubicBezTo>
                    <a:pt x="45588" y="12019"/>
                    <a:pt x="57018" y="9479"/>
                    <a:pt x="81148" y="5669"/>
                  </a:cubicBezTo>
                  <a:cubicBezTo>
                    <a:pt x="145918" y="-3221"/>
                    <a:pt x="392298" y="-3221"/>
                    <a:pt x="443098" y="17099"/>
                  </a:cubicBezTo>
                  <a:cubicBezTo>
                    <a:pt x="459608" y="23449"/>
                    <a:pt x="464688" y="31069"/>
                    <a:pt x="471038" y="42499"/>
                  </a:cubicBezTo>
                  <a:cubicBezTo>
                    <a:pt x="479928" y="56469"/>
                    <a:pt x="486278" y="79329"/>
                    <a:pt x="485008" y="95839"/>
                  </a:cubicBezTo>
                  <a:cubicBezTo>
                    <a:pt x="482468" y="113619"/>
                    <a:pt x="472308" y="133939"/>
                    <a:pt x="458338" y="145369"/>
                  </a:cubicBezTo>
                  <a:cubicBezTo>
                    <a:pt x="445638" y="156799"/>
                    <a:pt x="407538" y="164419"/>
                    <a:pt x="407538" y="164419"/>
                  </a:cubicBezTo>
                </a:path>
              </a:pathLst>
            </a:custGeom>
            <a:solidFill>
              <a:srgbClr val="E7191F"/>
            </a:solidFill>
            <a:ln cap="sq">
              <a:noFill/>
              <a:prstDash val="solid"/>
              <a:miter/>
            </a:ln>
          </p:spPr>
        </p:sp>
      </p:grpSp>
      <p:grpSp>
        <p:nvGrpSpPr>
          <p:cNvPr name="Group 23" id="23"/>
          <p:cNvGrpSpPr/>
          <p:nvPr/>
        </p:nvGrpSpPr>
        <p:grpSpPr>
          <a:xfrm rot="0">
            <a:off x="11173778" y="9255443"/>
            <a:ext cx="188595" cy="184785"/>
            <a:chOff x="0" y="0"/>
            <a:chExt cx="251460" cy="246380"/>
          </a:xfrm>
        </p:grpSpPr>
        <p:sp>
          <p:nvSpPr>
            <p:cNvPr name="Freeform 24" id="24"/>
            <p:cNvSpPr/>
            <p:nvPr/>
          </p:nvSpPr>
          <p:spPr>
            <a:xfrm flipH="false" flipV="false" rot="0">
              <a:off x="50800" y="50746"/>
              <a:ext cx="148590" cy="147163"/>
            </a:xfrm>
            <a:custGeom>
              <a:avLst/>
              <a:gdLst/>
              <a:ahLst/>
              <a:cxnLst/>
              <a:rect r="r" b="b" t="t" l="l"/>
              <a:pathLst>
                <a:path h="147163" w="148590">
                  <a:moveTo>
                    <a:pt x="148590" y="52124"/>
                  </a:moveTo>
                  <a:cubicBezTo>
                    <a:pt x="129540" y="133404"/>
                    <a:pt x="120650" y="139754"/>
                    <a:pt x="107950" y="143564"/>
                  </a:cubicBezTo>
                  <a:cubicBezTo>
                    <a:pt x="90170" y="149914"/>
                    <a:pt x="53340" y="147374"/>
                    <a:pt x="36830" y="139754"/>
                  </a:cubicBezTo>
                  <a:cubicBezTo>
                    <a:pt x="25400" y="134674"/>
                    <a:pt x="17780" y="124514"/>
                    <a:pt x="11430" y="114354"/>
                  </a:cubicBezTo>
                  <a:cubicBezTo>
                    <a:pt x="5080" y="104194"/>
                    <a:pt x="0" y="92764"/>
                    <a:pt x="0" y="78794"/>
                  </a:cubicBezTo>
                  <a:cubicBezTo>
                    <a:pt x="1270" y="61014"/>
                    <a:pt x="16510" y="27994"/>
                    <a:pt x="29210" y="15294"/>
                  </a:cubicBezTo>
                  <a:cubicBezTo>
                    <a:pt x="39370" y="5134"/>
                    <a:pt x="49530" y="54"/>
                    <a:pt x="62230" y="54"/>
                  </a:cubicBezTo>
                  <a:cubicBezTo>
                    <a:pt x="81280" y="-1216"/>
                    <a:pt x="130810" y="20374"/>
                    <a:pt x="130810" y="20374"/>
                  </a:cubicBezTo>
                </a:path>
              </a:pathLst>
            </a:custGeom>
            <a:solidFill>
              <a:srgbClr val="E7191F"/>
            </a:solidFill>
            <a:ln cap="sq">
              <a:noFill/>
              <a:prstDash val="solid"/>
              <a:miter/>
            </a:ln>
          </p:spPr>
        </p:sp>
      </p:grpSp>
      <p:sp>
        <p:nvSpPr>
          <p:cNvPr name="TextBox 25" id="25"/>
          <p:cNvSpPr txBox="true"/>
          <p:nvPr/>
        </p:nvSpPr>
        <p:spPr>
          <a:xfrm rot="0">
            <a:off x="8277572" y="3419437"/>
            <a:ext cx="1732856" cy="662942"/>
          </a:xfrm>
          <a:prstGeom prst="rect">
            <a:avLst/>
          </a:prstGeom>
        </p:spPr>
        <p:txBody>
          <a:bodyPr anchor="t" rtlCol="false" tIns="0" lIns="0" bIns="0" rIns="0">
            <a:spAutoFit/>
          </a:bodyPr>
          <a:lstStyle/>
          <a:p>
            <a:pPr algn="ctr">
              <a:lnSpc>
                <a:spcPts val="5459"/>
              </a:lnSpc>
              <a:spcBef>
                <a:spcPct val="0"/>
              </a:spcBef>
            </a:pPr>
            <a:r>
              <a:rPr lang="en-US" sz="3899" spc="-148">
                <a:solidFill>
                  <a:srgbClr val="FFFFFF"/>
                </a:solidFill>
                <a:latin typeface="Open Sauce"/>
                <a:ea typeface="Open Sauce"/>
                <a:cs typeface="Open Sauce"/>
                <a:sym typeface="Open Sauce"/>
              </a:rPr>
              <a:t>Outliers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Freeform 4" id="4"/>
          <p:cNvSpPr/>
          <p:nvPr/>
        </p:nvSpPr>
        <p:spPr>
          <a:xfrm flipH="false" flipV="false" rot="0">
            <a:off x="3911944" y="3587395"/>
            <a:ext cx="10809533" cy="5904708"/>
          </a:xfrm>
          <a:custGeom>
            <a:avLst/>
            <a:gdLst/>
            <a:ahLst/>
            <a:cxnLst/>
            <a:rect r="r" b="b" t="t" l="l"/>
            <a:pathLst>
              <a:path h="5904708" w="10809533">
                <a:moveTo>
                  <a:pt x="0" y="0"/>
                </a:moveTo>
                <a:lnTo>
                  <a:pt x="10809533" y="0"/>
                </a:lnTo>
                <a:lnTo>
                  <a:pt x="10809533" y="5904708"/>
                </a:lnTo>
                <a:lnTo>
                  <a:pt x="0" y="5904708"/>
                </a:lnTo>
                <a:lnTo>
                  <a:pt x="0" y="0"/>
                </a:lnTo>
                <a:close/>
              </a:path>
            </a:pathLst>
          </a:custGeom>
          <a:blipFill>
            <a:blip r:embed="rId4"/>
            <a:stretch>
              <a:fillRect l="0" t="0" r="0" b="0"/>
            </a:stretch>
          </a:blipFill>
        </p:spPr>
      </p:sp>
      <p:sp>
        <p:nvSpPr>
          <p:cNvPr name="TextBox 5" id="5"/>
          <p:cNvSpPr txBox="true"/>
          <p:nvPr/>
        </p:nvSpPr>
        <p:spPr>
          <a:xfrm rot="0">
            <a:off x="1028700" y="1758438"/>
            <a:ext cx="14208297" cy="1318099"/>
          </a:xfrm>
          <a:prstGeom prst="rect">
            <a:avLst/>
          </a:prstGeom>
        </p:spPr>
        <p:txBody>
          <a:bodyPr anchor="t" rtlCol="false" tIns="0" lIns="0" bIns="0" rIns="0">
            <a:spAutoFit/>
          </a:bodyPr>
          <a:lstStyle/>
          <a:p>
            <a:pPr algn="l">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PREPROCESSING</a:t>
            </a:r>
          </a:p>
        </p:txBody>
      </p:sp>
      <p:sp>
        <p:nvSpPr>
          <p:cNvPr name="TextBox 6" id="6"/>
          <p:cNvSpPr txBox="true"/>
          <p:nvPr/>
        </p:nvSpPr>
        <p:spPr>
          <a:xfrm rot="0">
            <a:off x="8131938" y="3009862"/>
            <a:ext cx="2674938" cy="547371"/>
          </a:xfrm>
          <a:prstGeom prst="rect">
            <a:avLst/>
          </a:prstGeom>
        </p:spPr>
        <p:txBody>
          <a:bodyPr anchor="t" rtlCol="false" tIns="0" lIns="0" bIns="0" rIns="0">
            <a:spAutoFit/>
          </a:bodyPr>
          <a:lstStyle/>
          <a:p>
            <a:pPr algn="ctr">
              <a:lnSpc>
                <a:spcPts val="4479"/>
              </a:lnSpc>
              <a:spcBef>
                <a:spcPct val="0"/>
              </a:spcBef>
            </a:pPr>
            <a:r>
              <a:rPr lang="en-US" b="true" sz="3199" spc="-121">
                <a:solidFill>
                  <a:srgbClr val="FFFFFF"/>
                </a:solidFill>
                <a:latin typeface="Open Sauce Bold"/>
                <a:ea typeface="Open Sauce Bold"/>
                <a:cs typeface="Open Sauce Bold"/>
                <a:sym typeface="Open Sauce Bold"/>
              </a:rPr>
              <a:t>Discretization </a:t>
            </a:r>
          </a:p>
        </p:txBody>
      </p:sp>
      <p:sp>
        <p:nvSpPr>
          <p:cNvPr name="TextBox 7" id="7"/>
          <p:cNvSpPr txBox="true"/>
          <p:nvPr/>
        </p:nvSpPr>
        <p:spPr>
          <a:xfrm rot="0">
            <a:off x="6981695" y="9484165"/>
            <a:ext cx="4975424" cy="306705"/>
          </a:xfrm>
          <a:prstGeom prst="rect">
            <a:avLst/>
          </a:prstGeom>
        </p:spPr>
        <p:txBody>
          <a:bodyPr anchor="t" rtlCol="false" tIns="0" lIns="0" bIns="0" rIns="0">
            <a:spAutoFit/>
          </a:bodyPr>
          <a:lstStyle/>
          <a:p>
            <a:pPr algn="ctr">
              <a:lnSpc>
                <a:spcPts val="2519"/>
              </a:lnSpc>
              <a:spcBef>
                <a:spcPct val="0"/>
              </a:spcBef>
            </a:pPr>
            <a:r>
              <a:rPr lang="en-US" sz="1799" spc="-68">
                <a:solidFill>
                  <a:srgbClr val="FFFFFF"/>
                </a:solidFill>
                <a:latin typeface="Open Sauce"/>
                <a:ea typeface="Open Sauce"/>
                <a:cs typeface="Open Sauce"/>
                <a:sym typeface="Open Sauce"/>
              </a:rPr>
              <a:t>continuous values were grouped into categories.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Freeform 4" id="4"/>
          <p:cNvSpPr/>
          <p:nvPr/>
        </p:nvSpPr>
        <p:spPr>
          <a:xfrm flipH="false" flipV="false" rot="0">
            <a:off x="1788478" y="3876075"/>
            <a:ext cx="6680686" cy="5382225"/>
          </a:xfrm>
          <a:custGeom>
            <a:avLst/>
            <a:gdLst/>
            <a:ahLst/>
            <a:cxnLst/>
            <a:rect r="r" b="b" t="t" l="l"/>
            <a:pathLst>
              <a:path h="5382225" w="6680686">
                <a:moveTo>
                  <a:pt x="0" y="0"/>
                </a:moveTo>
                <a:lnTo>
                  <a:pt x="6680686" y="0"/>
                </a:lnTo>
                <a:lnTo>
                  <a:pt x="6680686" y="5382225"/>
                </a:lnTo>
                <a:lnTo>
                  <a:pt x="0" y="5382225"/>
                </a:lnTo>
                <a:lnTo>
                  <a:pt x="0" y="0"/>
                </a:lnTo>
                <a:close/>
              </a:path>
            </a:pathLst>
          </a:custGeom>
          <a:blipFill>
            <a:blip r:embed="rId4"/>
            <a:stretch>
              <a:fillRect l="0" t="0" r="-69163" b="0"/>
            </a:stretch>
          </a:blipFill>
        </p:spPr>
      </p:sp>
      <p:sp>
        <p:nvSpPr>
          <p:cNvPr name="Freeform 5" id="5"/>
          <p:cNvSpPr/>
          <p:nvPr/>
        </p:nvSpPr>
        <p:spPr>
          <a:xfrm flipH="false" flipV="false" rot="0">
            <a:off x="11784117" y="3535419"/>
            <a:ext cx="4126966" cy="6063538"/>
          </a:xfrm>
          <a:custGeom>
            <a:avLst/>
            <a:gdLst/>
            <a:ahLst/>
            <a:cxnLst/>
            <a:rect r="r" b="b" t="t" l="l"/>
            <a:pathLst>
              <a:path h="6063538" w="4126966">
                <a:moveTo>
                  <a:pt x="0" y="0"/>
                </a:moveTo>
                <a:lnTo>
                  <a:pt x="4126966" y="0"/>
                </a:lnTo>
                <a:lnTo>
                  <a:pt x="4126966" y="6063538"/>
                </a:lnTo>
                <a:lnTo>
                  <a:pt x="0" y="6063538"/>
                </a:lnTo>
                <a:lnTo>
                  <a:pt x="0" y="0"/>
                </a:lnTo>
                <a:close/>
              </a:path>
            </a:pathLst>
          </a:custGeom>
          <a:blipFill>
            <a:blip r:embed="rId5"/>
            <a:stretch>
              <a:fillRect l="0" t="0" r="0" b="0"/>
            </a:stretch>
          </a:blipFill>
        </p:spPr>
      </p:sp>
      <p:sp>
        <p:nvSpPr>
          <p:cNvPr name="TextBox 6" id="6"/>
          <p:cNvSpPr txBox="true"/>
          <p:nvPr/>
        </p:nvSpPr>
        <p:spPr>
          <a:xfrm rot="0">
            <a:off x="6716038" y="705164"/>
            <a:ext cx="905580" cy="172920"/>
          </a:xfrm>
          <a:prstGeom prst="rect">
            <a:avLst/>
          </a:prstGeom>
        </p:spPr>
        <p:txBody>
          <a:bodyPr anchor="t" rtlCol="false" tIns="0" lIns="0" bIns="0" rIns="0">
            <a:spAutoFit/>
          </a:bodyPr>
          <a:lstStyle/>
          <a:p>
            <a:pPr algn="ctr">
              <a:lnSpc>
                <a:spcPts val="1218"/>
              </a:lnSpc>
            </a:pPr>
            <a:r>
              <a:rPr lang="en-US" b="true" sz="1400" spc="-53">
                <a:solidFill>
                  <a:srgbClr val="5CE6E2"/>
                </a:solidFill>
                <a:latin typeface="Open Sauce Bold"/>
                <a:ea typeface="Open Sauce Bold"/>
                <a:cs typeface="Open Sauce Bold"/>
                <a:sym typeface="Open Sauce Bold"/>
              </a:rPr>
              <a:t>Home</a:t>
            </a:r>
          </a:p>
        </p:txBody>
      </p:sp>
      <p:sp>
        <p:nvSpPr>
          <p:cNvPr name="TextBox 7" id="7"/>
          <p:cNvSpPr txBox="true"/>
          <p:nvPr/>
        </p:nvSpPr>
        <p:spPr>
          <a:xfrm rot="0">
            <a:off x="7954136" y="705164"/>
            <a:ext cx="1030057"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Services</a:t>
            </a:r>
          </a:p>
        </p:txBody>
      </p:sp>
      <p:sp>
        <p:nvSpPr>
          <p:cNvPr name="TextBox 8" id="8"/>
          <p:cNvSpPr txBox="true"/>
          <p:nvPr/>
        </p:nvSpPr>
        <p:spPr>
          <a:xfrm rot="0">
            <a:off x="9316711" y="705164"/>
            <a:ext cx="1017153"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Solution</a:t>
            </a:r>
          </a:p>
        </p:txBody>
      </p:sp>
      <p:sp>
        <p:nvSpPr>
          <p:cNvPr name="TextBox 9" id="9"/>
          <p:cNvSpPr txBox="true"/>
          <p:nvPr/>
        </p:nvSpPr>
        <p:spPr>
          <a:xfrm rot="0">
            <a:off x="10666382" y="705164"/>
            <a:ext cx="905580" cy="172920"/>
          </a:xfrm>
          <a:prstGeom prst="rect">
            <a:avLst/>
          </a:prstGeom>
        </p:spPr>
        <p:txBody>
          <a:bodyPr anchor="t" rtlCol="false" tIns="0" lIns="0" bIns="0" rIns="0">
            <a:spAutoFit/>
          </a:bodyPr>
          <a:lstStyle/>
          <a:p>
            <a:pPr algn="ctr">
              <a:lnSpc>
                <a:spcPts val="1218"/>
              </a:lnSpc>
            </a:pPr>
            <a:r>
              <a:rPr lang="en-US" sz="1400" spc="-53">
                <a:solidFill>
                  <a:srgbClr val="FFFFFF">
                    <a:alpha val="40000"/>
                  </a:srgbClr>
                </a:solidFill>
                <a:latin typeface="Open Sauce"/>
                <a:ea typeface="Open Sauce"/>
                <a:cs typeface="Open Sauce"/>
                <a:sym typeface="Open Sauce"/>
              </a:rPr>
              <a:t>About</a:t>
            </a:r>
          </a:p>
        </p:txBody>
      </p:sp>
      <p:sp>
        <p:nvSpPr>
          <p:cNvPr name="TextBox 10" id="10"/>
          <p:cNvSpPr txBox="true"/>
          <p:nvPr/>
        </p:nvSpPr>
        <p:spPr>
          <a:xfrm rot="0">
            <a:off x="1028700" y="1758438"/>
            <a:ext cx="14208297" cy="1318099"/>
          </a:xfrm>
          <a:prstGeom prst="rect">
            <a:avLst/>
          </a:prstGeom>
        </p:spPr>
        <p:txBody>
          <a:bodyPr anchor="t" rtlCol="false" tIns="0" lIns="0" bIns="0" rIns="0">
            <a:spAutoFit/>
          </a:bodyPr>
          <a:lstStyle/>
          <a:p>
            <a:pPr algn="l">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PREPROCESSING</a:t>
            </a:r>
          </a:p>
        </p:txBody>
      </p:sp>
      <p:sp>
        <p:nvSpPr>
          <p:cNvPr name="TextBox 11" id="11"/>
          <p:cNvSpPr txBox="true"/>
          <p:nvPr/>
        </p:nvSpPr>
        <p:spPr>
          <a:xfrm rot="0">
            <a:off x="8082775" y="3009862"/>
            <a:ext cx="2773263" cy="547371"/>
          </a:xfrm>
          <a:prstGeom prst="rect">
            <a:avLst/>
          </a:prstGeom>
        </p:spPr>
        <p:txBody>
          <a:bodyPr anchor="t" rtlCol="false" tIns="0" lIns="0" bIns="0" rIns="0">
            <a:spAutoFit/>
          </a:bodyPr>
          <a:lstStyle/>
          <a:p>
            <a:pPr algn="ctr">
              <a:lnSpc>
                <a:spcPts val="4479"/>
              </a:lnSpc>
              <a:spcBef>
                <a:spcPct val="0"/>
              </a:spcBef>
            </a:pPr>
            <a:r>
              <a:rPr lang="en-US" b="true" sz="3199" spc="-121">
                <a:solidFill>
                  <a:srgbClr val="FFFFFF"/>
                </a:solidFill>
                <a:latin typeface="Open Sauce Bold"/>
                <a:ea typeface="Open Sauce Bold"/>
                <a:cs typeface="Open Sauce Bold"/>
                <a:sym typeface="Open Sauce Bold"/>
              </a:rPr>
              <a:t>Missing values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AutoShape 2" id="2"/>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Freeform 3" id="3"/>
          <p:cNvSpPr/>
          <p:nvPr/>
        </p:nvSpPr>
        <p:spPr>
          <a:xfrm flipH="false" flipV="false" rot="0">
            <a:off x="1313772" y="3495637"/>
            <a:ext cx="4019047" cy="5979075"/>
          </a:xfrm>
          <a:custGeom>
            <a:avLst/>
            <a:gdLst/>
            <a:ahLst/>
            <a:cxnLst/>
            <a:rect r="r" b="b" t="t" l="l"/>
            <a:pathLst>
              <a:path h="5979075" w="4019047">
                <a:moveTo>
                  <a:pt x="0" y="0"/>
                </a:moveTo>
                <a:lnTo>
                  <a:pt x="4019047" y="0"/>
                </a:lnTo>
                <a:lnTo>
                  <a:pt x="4019047" y="5979075"/>
                </a:lnTo>
                <a:lnTo>
                  <a:pt x="0" y="5979075"/>
                </a:lnTo>
                <a:lnTo>
                  <a:pt x="0" y="0"/>
                </a:lnTo>
                <a:close/>
              </a:path>
            </a:pathLst>
          </a:custGeom>
          <a:blipFill>
            <a:blip r:embed="rId2"/>
            <a:stretch>
              <a:fillRect l="0" t="0" r="0" b="0"/>
            </a:stretch>
          </a:blipFill>
        </p:spPr>
      </p:sp>
      <p:sp>
        <p:nvSpPr>
          <p:cNvPr name="Freeform 4" id="4"/>
          <p:cNvSpPr/>
          <p:nvPr/>
        </p:nvSpPr>
        <p:spPr>
          <a:xfrm flipH="false" flipV="false" rot="0">
            <a:off x="5789771" y="3370265"/>
            <a:ext cx="11301259" cy="6229819"/>
          </a:xfrm>
          <a:custGeom>
            <a:avLst/>
            <a:gdLst/>
            <a:ahLst/>
            <a:cxnLst/>
            <a:rect r="r" b="b" t="t" l="l"/>
            <a:pathLst>
              <a:path h="6229819" w="11301259">
                <a:moveTo>
                  <a:pt x="0" y="0"/>
                </a:moveTo>
                <a:lnTo>
                  <a:pt x="11301259" y="0"/>
                </a:lnTo>
                <a:lnTo>
                  <a:pt x="11301259" y="6229819"/>
                </a:lnTo>
                <a:lnTo>
                  <a:pt x="0" y="6229819"/>
                </a:lnTo>
                <a:lnTo>
                  <a:pt x="0" y="0"/>
                </a:lnTo>
                <a:close/>
              </a:path>
            </a:pathLst>
          </a:custGeom>
          <a:blipFill>
            <a:blip r:embed="rId3"/>
            <a:stretch>
              <a:fillRect l="0" t="0" r="0" b="0"/>
            </a:stretch>
          </a:blipFill>
        </p:spPr>
      </p:sp>
      <p:sp>
        <p:nvSpPr>
          <p:cNvPr name="TextBox 5" id="5"/>
          <p:cNvSpPr txBox="true"/>
          <p:nvPr/>
        </p:nvSpPr>
        <p:spPr>
          <a:xfrm rot="0">
            <a:off x="1028700" y="1758438"/>
            <a:ext cx="14208297" cy="1318099"/>
          </a:xfrm>
          <a:prstGeom prst="rect">
            <a:avLst/>
          </a:prstGeom>
        </p:spPr>
        <p:txBody>
          <a:bodyPr anchor="t" rtlCol="false" tIns="0" lIns="0" bIns="0" rIns="0">
            <a:spAutoFit/>
          </a:bodyPr>
          <a:lstStyle/>
          <a:p>
            <a:pPr algn="l">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CLASSIFICATION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AutoShape 2" id="2"/>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Freeform 3" id="3"/>
          <p:cNvSpPr/>
          <p:nvPr/>
        </p:nvSpPr>
        <p:spPr>
          <a:xfrm flipH="false" flipV="false" rot="0">
            <a:off x="1313772" y="3495637"/>
            <a:ext cx="4019047" cy="5979075"/>
          </a:xfrm>
          <a:custGeom>
            <a:avLst/>
            <a:gdLst/>
            <a:ahLst/>
            <a:cxnLst/>
            <a:rect r="r" b="b" t="t" l="l"/>
            <a:pathLst>
              <a:path h="5979075" w="4019047">
                <a:moveTo>
                  <a:pt x="0" y="0"/>
                </a:moveTo>
                <a:lnTo>
                  <a:pt x="4019047" y="0"/>
                </a:lnTo>
                <a:lnTo>
                  <a:pt x="4019047" y="5979075"/>
                </a:lnTo>
                <a:lnTo>
                  <a:pt x="0" y="5979075"/>
                </a:lnTo>
                <a:lnTo>
                  <a:pt x="0" y="0"/>
                </a:lnTo>
                <a:close/>
              </a:path>
            </a:pathLst>
          </a:custGeom>
          <a:blipFill>
            <a:blip r:embed="rId2"/>
            <a:stretch>
              <a:fillRect l="0" t="0" r="0" b="0"/>
            </a:stretch>
          </a:blipFill>
        </p:spPr>
      </p:sp>
      <p:sp>
        <p:nvSpPr>
          <p:cNvPr name="Freeform 4" id="4"/>
          <p:cNvSpPr/>
          <p:nvPr/>
        </p:nvSpPr>
        <p:spPr>
          <a:xfrm flipH="false" flipV="false" rot="0">
            <a:off x="5979586" y="3444893"/>
            <a:ext cx="10529111" cy="6080561"/>
          </a:xfrm>
          <a:custGeom>
            <a:avLst/>
            <a:gdLst/>
            <a:ahLst/>
            <a:cxnLst/>
            <a:rect r="r" b="b" t="t" l="l"/>
            <a:pathLst>
              <a:path h="6080561" w="10529111">
                <a:moveTo>
                  <a:pt x="0" y="0"/>
                </a:moveTo>
                <a:lnTo>
                  <a:pt x="10529111" y="0"/>
                </a:lnTo>
                <a:lnTo>
                  <a:pt x="10529111" y="6080562"/>
                </a:lnTo>
                <a:lnTo>
                  <a:pt x="0" y="6080562"/>
                </a:lnTo>
                <a:lnTo>
                  <a:pt x="0" y="0"/>
                </a:lnTo>
                <a:close/>
              </a:path>
            </a:pathLst>
          </a:custGeom>
          <a:blipFill>
            <a:blip r:embed="rId3"/>
            <a:stretch>
              <a:fillRect l="0" t="0" r="0" b="0"/>
            </a:stretch>
          </a:blipFill>
        </p:spPr>
      </p:sp>
      <p:sp>
        <p:nvSpPr>
          <p:cNvPr name="TextBox 5" id="5"/>
          <p:cNvSpPr txBox="true"/>
          <p:nvPr/>
        </p:nvSpPr>
        <p:spPr>
          <a:xfrm rot="0">
            <a:off x="1028700" y="1758438"/>
            <a:ext cx="14208297" cy="1318099"/>
          </a:xfrm>
          <a:prstGeom prst="rect">
            <a:avLst/>
          </a:prstGeom>
        </p:spPr>
        <p:txBody>
          <a:bodyPr anchor="t" rtlCol="false" tIns="0" lIns="0" bIns="0" rIns="0">
            <a:spAutoFit/>
          </a:bodyPr>
          <a:lstStyle/>
          <a:p>
            <a:pPr algn="l">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CLASSIFICATION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AutoShape 2" id="2"/>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Freeform 3" id="3"/>
          <p:cNvSpPr/>
          <p:nvPr/>
        </p:nvSpPr>
        <p:spPr>
          <a:xfrm flipH="false" flipV="false" rot="0">
            <a:off x="2249648" y="3291842"/>
            <a:ext cx="6894352" cy="5966458"/>
          </a:xfrm>
          <a:custGeom>
            <a:avLst/>
            <a:gdLst/>
            <a:ahLst/>
            <a:cxnLst/>
            <a:rect r="r" b="b" t="t" l="l"/>
            <a:pathLst>
              <a:path h="5966458" w="6894352">
                <a:moveTo>
                  <a:pt x="0" y="0"/>
                </a:moveTo>
                <a:lnTo>
                  <a:pt x="6894352" y="0"/>
                </a:lnTo>
                <a:lnTo>
                  <a:pt x="6894352" y="5966458"/>
                </a:lnTo>
                <a:lnTo>
                  <a:pt x="0" y="5966458"/>
                </a:lnTo>
                <a:lnTo>
                  <a:pt x="0" y="0"/>
                </a:lnTo>
                <a:close/>
              </a:path>
            </a:pathLst>
          </a:custGeom>
          <a:blipFill>
            <a:blip r:embed="rId2"/>
            <a:stretch>
              <a:fillRect l="0" t="0" r="0" b="0"/>
            </a:stretch>
          </a:blipFill>
        </p:spPr>
      </p:sp>
      <p:sp>
        <p:nvSpPr>
          <p:cNvPr name="Freeform 4" id="4"/>
          <p:cNvSpPr/>
          <p:nvPr/>
        </p:nvSpPr>
        <p:spPr>
          <a:xfrm flipH="false" flipV="false" rot="0">
            <a:off x="9922126" y="3317277"/>
            <a:ext cx="6792637" cy="5941023"/>
          </a:xfrm>
          <a:custGeom>
            <a:avLst/>
            <a:gdLst/>
            <a:ahLst/>
            <a:cxnLst/>
            <a:rect r="r" b="b" t="t" l="l"/>
            <a:pathLst>
              <a:path h="5941023" w="6792637">
                <a:moveTo>
                  <a:pt x="0" y="0"/>
                </a:moveTo>
                <a:lnTo>
                  <a:pt x="6792637" y="0"/>
                </a:lnTo>
                <a:lnTo>
                  <a:pt x="6792637" y="5941023"/>
                </a:lnTo>
                <a:lnTo>
                  <a:pt x="0" y="5941023"/>
                </a:lnTo>
                <a:lnTo>
                  <a:pt x="0" y="0"/>
                </a:lnTo>
                <a:close/>
              </a:path>
            </a:pathLst>
          </a:custGeom>
          <a:blipFill>
            <a:blip r:embed="rId3"/>
            <a:stretch>
              <a:fillRect l="0" t="0" r="0" b="0"/>
            </a:stretch>
          </a:blipFill>
        </p:spPr>
      </p:sp>
      <p:sp>
        <p:nvSpPr>
          <p:cNvPr name="TextBox 5" id="5"/>
          <p:cNvSpPr txBox="true"/>
          <p:nvPr/>
        </p:nvSpPr>
        <p:spPr>
          <a:xfrm rot="0">
            <a:off x="1028700" y="1758438"/>
            <a:ext cx="14208297" cy="1318099"/>
          </a:xfrm>
          <a:prstGeom prst="rect">
            <a:avLst/>
          </a:prstGeom>
        </p:spPr>
        <p:txBody>
          <a:bodyPr anchor="t" rtlCol="false" tIns="0" lIns="0" bIns="0" rIns="0">
            <a:spAutoFit/>
          </a:bodyPr>
          <a:lstStyle/>
          <a:p>
            <a:pPr algn="l">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CLASSIFICATION </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031A25"/>
        </a:solidFill>
      </p:bgPr>
    </p:bg>
    <p:spTree>
      <p:nvGrpSpPr>
        <p:cNvPr id="1" name=""/>
        <p:cNvGrpSpPr/>
        <p:nvPr/>
      </p:nvGrpSpPr>
      <p:grpSpPr>
        <a:xfrm>
          <a:off x="0" y="0"/>
          <a:ext cx="0" cy="0"/>
          <a:chOff x="0" y="0"/>
          <a:chExt cx="0" cy="0"/>
        </a:xfrm>
      </p:grpSpPr>
      <p:sp>
        <p:nvSpPr>
          <p:cNvPr name="AutoShape 2" id="2"/>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TextBox 3" id="3"/>
          <p:cNvSpPr txBox="true"/>
          <p:nvPr/>
        </p:nvSpPr>
        <p:spPr>
          <a:xfrm rot="0">
            <a:off x="1028700" y="1758438"/>
            <a:ext cx="14208297" cy="1318099"/>
          </a:xfrm>
          <a:prstGeom prst="rect">
            <a:avLst/>
          </a:prstGeom>
        </p:spPr>
        <p:txBody>
          <a:bodyPr anchor="t" rtlCol="false" tIns="0" lIns="0" bIns="0" rIns="0">
            <a:spAutoFit/>
          </a:bodyPr>
          <a:lstStyle/>
          <a:p>
            <a:pPr algn="l">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CLASSIFICATION </a:t>
            </a:r>
          </a:p>
        </p:txBody>
      </p:sp>
      <p:sp>
        <p:nvSpPr>
          <p:cNvPr name="TextBox 4" id="4"/>
          <p:cNvSpPr txBox="true"/>
          <p:nvPr/>
        </p:nvSpPr>
        <p:spPr>
          <a:xfrm rot="0">
            <a:off x="5419279" y="3814743"/>
            <a:ext cx="7449443" cy="580390"/>
          </a:xfrm>
          <a:prstGeom prst="rect">
            <a:avLst/>
          </a:prstGeom>
        </p:spPr>
        <p:txBody>
          <a:bodyPr anchor="t" rtlCol="false" tIns="0" lIns="0" bIns="0" rIns="0">
            <a:spAutoFit/>
          </a:bodyPr>
          <a:lstStyle/>
          <a:p>
            <a:pPr algn="ctr">
              <a:lnSpc>
                <a:spcPts val="4759"/>
              </a:lnSpc>
              <a:spcBef>
                <a:spcPct val="0"/>
              </a:spcBef>
            </a:pPr>
            <a:r>
              <a:rPr lang="en-US" b="true" sz="3399" spc="-282">
                <a:solidFill>
                  <a:srgbClr val="5CE6E2"/>
                </a:solidFill>
                <a:latin typeface="Bricolage Grotesque Medium"/>
                <a:ea typeface="Bricolage Grotesque Medium"/>
                <a:cs typeface="Bricolage Grotesque Medium"/>
                <a:sym typeface="Bricolage Grotesque Medium"/>
              </a:rPr>
              <a:t>DIFFERENCE BETWEEN GINI AND ENTROPY</a:t>
            </a:r>
          </a:p>
        </p:txBody>
      </p:sp>
      <p:sp>
        <p:nvSpPr>
          <p:cNvPr name="TextBox 5" id="5"/>
          <p:cNvSpPr txBox="true"/>
          <p:nvPr/>
        </p:nvSpPr>
        <p:spPr>
          <a:xfrm rot="0">
            <a:off x="205782" y="4821773"/>
            <a:ext cx="17876435" cy="3453130"/>
          </a:xfrm>
          <a:prstGeom prst="rect">
            <a:avLst/>
          </a:prstGeom>
        </p:spPr>
        <p:txBody>
          <a:bodyPr anchor="t" rtlCol="false" tIns="0" lIns="0" bIns="0" rIns="0">
            <a:spAutoFit/>
          </a:bodyPr>
          <a:lstStyle/>
          <a:p>
            <a:pPr algn="ctr">
              <a:lnSpc>
                <a:spcPts val="3919"/>
              </a:lnSpc>
            </a:pPr>
            <a:r>
              <a:rPr lang="en-US" b="true" sz="2799">
                <a:solidFill>
                  <a:srgbClr val="5CE6E2"/>
                </a:solidFill>
                <a:latin typeface="Canva Sans Bold"/>
                <a:ea typeface="Canva Sans Bold"/>
                <a:cs typeface="Canva Sans Bold"/>
                <a:sym typeface="Canva Sans Bold"/>
              </a:rPr>
              <a:t>Gini Index:</a:t>
            </a:r>
          </a:p>
          <a:p>
            <a:pPr algn="ctr">
              <a:lnSpc>
                <a:spcPts val="3919"/>
              </a:lnSpc>
            </a:pPr>
            <a:r>
              <a:rPr lang="en-US" b="true" sz="2799">
                <a:solidFill>
                  <a:srgbClr val="5CE6E2"/>
                </a:solidFill>
                <a:latin typeface="Canva Sans Bold"/>
                <a:ea typeface="Canva Sans Bold"/>
                <a:cs typeface="Canva Sans Bold"/>
                <a:sym typeface="Canva Sans Bold"/>
              </a:rPr>
              <a:t> Produces simpler trees with fewer splits. It measures how mixed the classes are, and prefers splits that reduce impurity quickly.</a:t>
            </a:r>
          </a:p>
          <a:p>
            <a:pPr algn="ctr">
              <a:lnSpc>
                <a:spcPts val="3919"/>
              </a:lnSpc>
            </a:pPr>
          </a:p>
          <a:p>
            <a:pPr algn="ctr">
              <a:lnSpc>
                <a:spcPts val="3919"/>
              </a:lnSpc>
            </a:pPr>
            <a:r>
              <a:rPr lang="en-US" b="true" sz="2799">
                <a:solidFill>
                  <a:srgbClr val="5CE6E2"/>
                </a:solidFill>
                <a:latin typeface="Canva Sans Bold"/>
                <a:ea typeface="Canva Sans Bold"/>
                <a:cs typeface="Canva Sans Bold"/>
                <a:sym typeface="Canva Sans Bold"/>
              </a:rPr>
              <a:t>Entropy (Information Gain):</a:t>
            </a:r>
          </a:p>
          <a:p>
            <a:pPr algn="l">
              <a:lnSpc>
                <a:spcPts val="3919"/>
              </a:lnSpc>
            </a:pPr>
            <a:r>
              <a:rPr lang="en-US" b="true" sz="2799">
                <a:solidFill>
                  <a:srgbClr val="5CE6E2"/>
                </a:solidFill>
                <a:latin typeface="Canva Sans Bold"/>
                <a:ea typeface="Canva Sans Bold"/>
                <a:cs typeface="Canva Sans Bold"/>
                <a:sym typeface="Canva Sans Bold"/>
              </a:rPr>
              <a:t> Produces more detailed and deeper trees. It selects splits based on the amount of information gained.</a:t>
            </a:r>
          </a:p>
          <a:p>
            <a:pPr algn="ctr">
              <a:lnSpc>
                <a:spcPts val="3919"/>
              </a:lnSpc>
            </a:pP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031A25"/>
        </a:solidFill>
      </p:bgPr>
    </p:bg>
    <p:spTree>
      <p:nvGrpSpPr>
        <p:cNvPr id="1" name=""/>
        <p:cNvGrpSpPr/>
        <p:nvPr/>
      </p:nvGrpSpPr>
      <p:grpSpPr>
        <a:xfrm>
          <a:off x="0" y="0"/>
          <a:ext cx="0" cy="0"/>
          <a:chOff x="0" y="0"/>
          <a:chExt cx="0" cy="0"/>
        </a:xfrm>
      </p:grpSpPr>
      <p:sp>
        <p:nvSpPr>
          <p:cNvPr name="AutoShape 2" id="2"/>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TextBox 3" id="3"/>
          <p:cNvSpPr txBox="true"/>
          <p:nvPr/>
        </p:nvSpPr>
        <p:spPr>
          <a:xfrm rot="0">
            <a:off x="1028700" y="1758438"/>
            <a:ext cx="14208297" cy="1318099"/>
          </a:xfrm>
          <a:prstGeom prst="rect">
            <a:avLst/>
          </a:prstGeom>
        </p:spPr>
        <p:txBody>
          <a:bodyPr anchor="t" rtlCol="false" tIns="0" lIns="0" bIns="0" rIns="0">
            <a:spAutoFit/>
          </a:bodyPr>
          <a:lstStyle/>
          <a:p>
            <a:pPr algn="l">
              <a:lnSpc>
                <a:spcPts val="9106"/>
              </a:lnSpc>
            </a:pPr>
            <a:r>
              <a:rPr lang="en-US" b="true" sz="11675" spc="-969">
                <a:solidFill>
                  <a:srgbClr val="5CE6E2"/>
                </a:solidFill>
                <a:latin typeface="Bricolage Grotesque Medium"/>
                <a:ea typeface="Bricolage Grotesque Medium"/>
                <a:cs typeface="Bricolage Grotesque Medium"/>
                <a:sym typeface="Bricolage Grotesque Medium"/>
              </a:rPr>
              <a:t>CLASSIFICATION </a:t>
            </a:r>
          </a:p>
        </p:txBody>
      </p:sp>
      <p:sp>
        <p:nvSpPr>
          <p:cNvPr name="TextBox 4" id="4"/>
          <p:cNvSpPr txBox="true"/>
          <p:nvPr/>
        </p:nvSpPr>
        <p:spPr>
          <a:xfrm rot="0">
            <a:off x="4536792" y="3667756"/>
            <a:ext cx="9214416" cy="1657350"/>
          </a:xfrm>
          <a:prstGeom prst="rect">
            <a:avLst/>
          </a:prstGeom>
        </p:spPr>
        <p:txBody>
          <a:bodyPr anchor="t" rtlCol="false" tIns="0" lIns="0" bIns="0" rIns="0">
            <a:spAutoFit/>
          </a:bodyPr>
          <a:lstStyle/>
          <a:p>
            <a:pPr algn="ctr">
              <a:lnSpc>
                <a:spcPts val="4200"/>
              </a:lnSpc>
              <a:spcBef>
                <a:spcPct val="0"/>
              </a:spcBef>
            </a:pPr>
            <a:r>
              <a:rPr lang="en-US" b="true" sz="3000" spc="-248">
                <a:solidFill>
                  <a:srgbClr val="5CE6E2"/>
                </a:solidFill>
                <a:latin typeface="Bricolage Grotesque Medium"/>
                <a:ea typeface="Bricolage Grotesque Medium"/>
                <a:cs typeface="Bricolage Grotesque Medium"/>
                <a:sym typeface="Bricolage Grotesque Medium"/>
              </a:rPr>
              <a:t>E</a:t>
            </a:r>
            <a:r>
              <a:rPr lang="en-US" b="true" sz="3000" spc="-248">
                <a:solidFill>
                  <a:srgbClr val="5CE6E2"/>
                </a:solidFill>
                <a:latin typeface="Bricolage Grotesque Medium"/>
                <a:ea typeface="Bricolage Grotesque Medium"/>
                <a:cs typeface="Bricolage Grotesque Medium"/>
                <a:sym typeface="Bricolage Grotesque Medium"/>
              </a:rPr>
              <a:t>FFECT OF TRAIN/TEST SPLITS (70%, 80%, 90%)</a:t>
            </a:r>
          </a:p>
          <a:p>
            <a:pPr algn="ctr">
              <a:lnSpc>
                <a:spcPts val="4759"/>
              </a:lnSpc>
              <a:spcBef>
                <a:spcPct val="0"/>
              </a:spcBef>
            </a:pPr>
          </a:p>
          <a:p>
            <a:pPr algn="ctr">
              <a:lnSpc>
                <a:spcPts val="4200"/>
              </a:lnSpc>
              <a:spcBef>
                <a:spcPct val="0"/>
              </a:spcBef>
            </a:pPr>
          </a:p>
        </p:txBody>
      </p:sp>
      <p:sp>
        <p:nvSpPr>
          <p:cNvPr name="TextBox 5" id="5"/>
          <p:cNvSpPr txBox="true"/>
          <p:nvPr/>
        </p:nvSpPr>
        <p:spPr>
          <a:xfrm rot="0">
            <a:off x="205782" y="4821773"/>
            <a:ext cx="17876435" cy="3453130"/>
          </a:xfrm>
          <a:prstGeom prst="rect">
            <a:avLst/>
          </a:prstGeom>
        </p:spPr>
        <p:txBody>
          <a:bodyPr anchor="t" rtlCol="false" tIns="0" lIns="0" bIns="0" rIns="0">
            <a:spAutoFit/>
          </a:bodyPr>
          <a:lstStyle/>
          <a:p>
            <a:pPr algn="ctr">
              <a:lnSpc>
                <a:spcPts val="3919"/>
              </a:lnSpc>
            </a:pPr>
            <a:r>
              <a:rPr lang="en-US" sz="2799" b="true">
                <a:solidFill>
                  <a:srgbClr val="5CE6E2"/>
                </a:solidFill>
                <a:latin typeface="Canva Sans Bold"/>
                <a:ea typeface="Canva Sans Bold"/>
                <a:cs typeface="Canva Sans Bold"/>
                <a:sym typeface="Canva Sans Bold"/>
              </a:rPr>
              <a:t>70% Tra</a:t>
            </a:r>
            <a:r>
              <a:rPr lang="en-US" b="true" sz="2799">
                <a:solidFill>
                  <a:srgbClr val="5CE6E2"/>
                </a:solidFill>
                <a:latin typeface="Canva Sans Bold"/>
                <a:ea typeface="Canva Sans Bold"/>
                <a:cs typeface="Canva Sans Bold"/>
                <a:sym typeface="Canva Sans Bold"/>
              </a:rPr>
              <a:t>ining:</a:t>
            </a:r>
          </a:p>
          <a:p>
            <a:pPr algn="ctr">
              <a:lnSpc>
                <a:spcPts val="3919"/>
              </a:lnSpc>
            </a:pPr>
            <a:r>
              <a:rPr lang="en-US" b="true" sz="2799">
                <a:solidFill>
                  <a:srgbClr val="5CE6E2"/>
                </a:solidFill>
                <a:latin typeface="Canva Sans Bold"/>
                <a:ea typeface="Canva Sans Bold"/>
                <a:cs typeface="Canva Sans Bold"/>
                <a:sym typeface="Canva Sans Bold"/>
              </a:rPr>
              <a:t>Less training data , slightly lower accuracy. More testing data → stronger evaluation.</a:t>
            </a:r>
          </a:p>
          <a:p>
            <a:pPr algn="ctr">
              <a:lnSpc>
                <a:spcPts val="3919"/>
              </a:lnSpc>
            </a:pPr>
            <a:r>
              <a:rPr lang="en-US" b="true" sz="2799">
                <a:solidFill>
                  <a:srgbClr val="5CE6E2"/>
                </a:solidFill>
                <a:latin typeface="Canva Sans Bold"/>
                <a:ea typeface="Canva Sans Bold"/>
                <a:cs typeface="Canva Sans Bold"/>
                <a:sym typeface="Canva Sans Bold"/>
              </a:rPr>
              <a:t>80% Training:</a:t>
            </a:r>
          </a:p>
          <a:p>
            <a:pPr algn="ctr">
              <a:lnSpc>
                <a:spcPts val="3919"/>
              </a:lnSpc>
            </a:pPr>
            <a:r>
              <a:rPr lang="en-US" b="true" sz="2799">
                <a:solidFill>
                  <a:srgbClr val="5CE6E2"/>
                </a:solidFill>
                <a:latin typeface="Canva Sans Bold"/>
                <a:ea typeface="Canva Sans Bold"/>
                <a:cs typeface="Canva Sans Bold"/>
                <a:sym typeface="Canva Sans Bold"/>
              </a:rPr>
              <a:t> Balanced split. Stable and reliable results.</a:t>
            </a:r>
          </a:p>
          <a:p>
            <a:pPr algn="ctr">
              <a:lnSpc>
                <a:spcPts val="3919"/>
              </a:lnSpc>
            </a:pPr>
            <a:r>
              <a:rPr lang="en-US" b="true" sz="2799">
                <a:solidFill>
                  <a:srgbClr val="5CE6E2"/>
                </a:solidFill>
                <a:latin typeface="Canva Sans Bold"/>
                <a:ea typeface="Canva Sans Bold"/>
                <a:cs typeface="Canva Sans Bold"/>
                <a:sym typeface="Canva Sans Bold"/>
              </a:rPr>
              <a:t>90% Training:</a:t>
            </a:r>
          </a:p>
          <a:p>
            <a:pPr algn="ctr">
              <a:lnSpc>
                <a:spcPts val="3919"/>
              </a:lnSpc>
            </a:pPr>
            <a:r>
              <a:rPr lang="en-US" b="true" sz="2799">
                <a:solidFill>
                  <a:srgbClr val="5CE6E2"/>
                </a:solidFill>
                <a:latin typeface="Canva Sans Bold"/>
                <a:ea typeface="Canva Sans Bold"/>
                <a:cs typeface="Canva Sans Bold"/>
                <a:sym typeface="Canva Sans Bold"/>
              </a:rPr>
              <a:t> Highest accuracy, but can lead to overfitting because the testing set is too small.</a:t>
            </a:r>
          </a:p>
          <a:p>
            <a:pPr algn="ctr">
              <a:lnSpc>
                <a:spcPts val="391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083905"/>
            <a:ext cx="16230600" cy="0"/>
          </a:xfrm>
          <a:prstGeom prst="line">
            <a:avLst/>
          </a:prstGeom>
          <a:ln cap="flat" w="9525">
            <a:solidFill>
              <a:srgbClr val="5CE6E2">
                <a:alpha val="49804"/>
              </a:srgbClr>
            </a:solidFill>
            <a:prstDash val="solid"/>
            <a:headEnd type="none" len="sm" w="sm"/>
            <a:tailEnd type="none" len="sm" w="sm"/>
          </a:ln>
        </p:spPr>
      </p:sp>
      <p:sp>
        <p:nvSpPr>
          <p:cNvPr name="TextBox 4" id="4"/>
          <p:cNvSpPr txBox="true"/>
          <p:nvPr/>
        </p:nvSpPr>
        <p:spPr>
          <a:xfrm rot="0">
            <a:off x="1239397" y="1468446"/>
            <a:ext cx="6476315" cy="1633652"/>
          </a:xfrm>
          <a:prstGeom prst="rect">
            <a:avLst/>
          </a:prstGeom>
        </p:spPr>
        <p:txBody>
          <a:bodyPr anchor="t" rtlCol="false" tIns="0" lIns="0" bIns="0" rIns="0">
            <a:spAutoFit/>
          </a:bodyPr>
          <a:lstStyle/>
          <a:p>
            <a:pPr algn="l">
              <a:lnSpc>
                <a:spcPts val="4151"/>
              </a:lnSpc>
            </a:pPr>
          </a:p>
          <a:p>
            <a:pPr algn="l">
              <a:lnSpc>
                <a:spcPts val="4151"/>
              </a:lnSpc>
            </a:pPr>
            <a:r>
              <a:rPr lang="en-US" sz="5321" spc="-441" b="true">
                <a:solidFill>
                  <a:srgbClr val="5CE6E2"/>
                </a:solidFill>
                <a:latin typeface="Bricolage Grotesque Medium"/>
                <a:ea typeface="Bricolage Grotesque Medium"/>
                <a:cs typeface="Bricolage Grotesque Medium"/>
                <a:sym typeface="Bricolage Grotesque Medium"/>
              </a:rPr>
              <a:t>Clust</a:t>
            </a:r>
            <a:r>
              <a:rPr lang="en-US" b="true" sz="5321" spc="-441">
                <a:solidFill>
                  <a:srgbClr val="5CE6E2"/>
                </a:solidFill>
                <a:latin typeface="Bricolage Grotesque Medium"/>
                <a:ea typeface="Bricolage Grotesque Medium"/>
                <a:cs typeface="Bricolage Grotesque Medium"/>
                <a:sym typeface="Bricolage Grotesque Medium"/>
              </a:rPr>
              <a:t>ERING METHOD</a:t>
            </a:r>
          </a:p>
          <a:p>
            <a:pPr algn="l">
              <a:lnSpc>
                <a:spcPts val="4044"/>
              </a:lnSpc>
            </a:pPr>
          </a:p>
        </p:txBody>
      </p:sp>
      <p:sp>
        <p:nvSpPr>
          <p:cNvPr name="TextBox 5" id="5"/>
          <p:cNvSpPr txBox="true"/>
          <p:nvPr/>
        </p:nvSpPr>
        <p:spPr>
          <a:xfrm rot="0">
            <a:off x="1239397" y="3311648"/>
            <a:ext cx="14685516" cy="5116709"/>
          </a:xfrm>
          <a:prstGeom prst="rect">
            <a:avLst/>
          </a:prstGeom>
        </p:spPr>
        <p:txBody>
          <a:bodyPr anchor="t" rtlCol="false" tIns="0" lIns="0" bIns="0" rIns="0">
            <a:spAutoFit/>
          </a:bodyPr>
          <a:lstStyle/>
          <a:p>
            <a:pPr algn="l">
              <a:lnSpc>
                <a:spcPts val="2885"/>
              </a:lnSpc>
            </a:pPr>
            <a:r>
              <a:rPr lang="en-US" b="true" sz="2647" spc="-31">
                <a:solidFill>
                  <a:srgbClr val="FFFFFF"/>
                </a:solidFill>
                <a:latin typeface="Open Sauce Bold"/>
                <a:ea typeface="Open Sauce Bold"/>
                <a:cs typeface="Open Sauce Bold"/>
                <a:sym typeface="Open Sauce Bold"/>
              </a:rPr>
              <a:t>TECHNIQUE: K-MEANS CLUSTERING</a:t>
            </a:r>
          </a:p>
          <a:p>
            <a:pPr algn="l">
              <a:lnSpc>
                <a:spcPts val="2885"/>
              </a:lnSpc>
            </a:pPr>
          </a:p>
          <a:p>
            <a:pPr algn="l">
              <a:lnSpc>
                <a:spcPts val="2885"/>
              </a:lnSpc>
            </a:pPr>
            <a:r>
              <a:rPr lang="en-US" sz="2647" spc="-31" b="true">
                <a:solidFill>
                  <a:srgbClr val="FFFFFF"/>
                </a:solidFill>
                <a:latin typeface="Open Sauce Bold"/>
                <a:ea typeface="Open Sauce Bold"/>
                <a:cs typeface="Open Sauce Bold"/>
                <a:sym typeface="Open Sauce Bold"/>
              </a:rPr>
              <a:t>We tested three different values of K:</a:t>
            </a:r>
          </a:p>
          <a:p>
            <a:pPr algn="l">
              <a:lnSpc>
                <a:spcPts val="2885"/>
              </a:lnSpc>
            </a:pPr>
            <a:r>
              <a:rPr lang="en-US" sz="2647" spc="-31" b="true">
                <a:solidFill>
                  <a:srgbClr val="FFFFFF"/>
                </a:solidFill>
                <a:latin typeface="Open Sauce Bold"/>
                <a:ea typeface="Open Sauce Bold"/>
                <a:cs typeface="Open Sauce Bold"/>
                <a:sym typeface="Open Sauce Bold"/>
              </a:rPr>
              <a:t>2, 3, and 4</a:t>
            </a:r>
          </a:p>
          <a:p>
            <a:pPr algn="l">
              <a:lnSpc>
                <a:spcPts val="2885"/>
              </a:lnSpc>
            </a:pPr>
          </a:p>
          <a:p>
            <a:pPr algn="l">
              <a:lnSpc>
                <a:spcPts val="2885"/>
              </a:lnSpc>
            </a:pPr>
            <a:r>
              <a:rPr lang="en-US" sz="2647" spc="-31" b="true">
                <a:solidFill>
                  <a:srgbClr val="FFFFFF"/>
                </a:solidFill>
                <a:latin typeface="Open Sauce Bold"/>
                <a:ea typeface="Open Sauce Bold"/>
                <a:cs typeface="Open Sauce Bold"/>
                <a:sym typeface="Open Sauce Bold"/>
              </a:rPr>
              <a:t>We used the following evaluation metrics:</a:t>
            </a:r>
          </a:p>
          <a:p>
            <a:pPr algn="l">
              <a:lnSpc>
                <a:spcPts val="2885"/>
              </a:lnSpc>
            </a:pPr>
          </a:p>
          <a:p>
            <a:pPr algn="l" marL="571587" indent="-285793" lvl="1">
              <a:lnSpc>
                <a:spcPts val="2885"/>
              </a:lnSpc>
              <a:buFont typeface="Arial"/>
              <a:buChar char="•"/>
            </a:pPr>
            <a:r>
              <a:rPr lang="en-US" b="true" sz="2647" spc="-31">
                <a:solidFill>
                  <a:srgbClr val="FFFFFF"/>
                </a:solidFill>
                <a:latin typeface="Open Sauce Bold"/>
                <a:ea typeface="Open Sauce Bold"/>
                <a:cs typeface="Open Sauce Bold"/>
                <a:sym typeface="Open Sauce Bold"/>
              </a:rPr>
              <a:t>SILHOUETTE SCORE (MEASURES CLUSTER SEPARATION)</a:t>
            </a:r>
          </a:p>
          <a:p>
            <a:pPr algn="l" marL="571587" indent="-285793" lvl="1">
              <a:lnSpc>
                <a:spcPts val="2885"/>
              </a:lnSpc>
              <a:buFont typeface="Arial"/>
              <a:buChar char="•"/>
            </a:pPr>
            <a:r>
              <a:rPr lang="en-US" b="true" sz="2647" spc="-31">
                <a:solidFill>
                  <a:srgbClr val="FFFFFF"/>
                </a:solidFill>
                <a:latin typeface="Open Sauce Bold"/>
                <a:ea typeface="Open Sauce Bold"/>
                <a:cs typeface="Open Sauce Bold"/>
                <a:sym typeface="Open Sauce Bold"/>
              </a:rPr>
              <a:t>ELBOW METHOD (WCSS) (MEASURES INTRA-CLUSTER COMPACTNESS)</a:t>
            </a:r>
          </a:p>
          <a:p>
            <a:pPr algn="l">
              <a:lnSpc>
                <a:spcPts val="2885"/>
              </a:lnSpc>
            </a:pPr>
          </a:p>
          <a:p>
            <a:pPr algn="l">
              <a:lnSpc>
                <a:spcPts val="2885"/>
              </a:lnSpc>
            </a:pPr>
          </a:p>
          <a:p>
            <a:pPr algn="l">
              <a:lnSpc>
                <a:spcPts val="2885"/>
              </a:lnSpc>
            </a:pPr>
            <a:r>
              <a:rPr lang="en-US" b="true" sz="2647" spc="-31">
                <a:solidFill>
                  <a:srgbClr val="FFFFFF"/>
                </a:solidFill>
                <a:latin typeface="Open Sauce Bold"/>
                <a:ea typeface="Open Sauce Bold"/>
                <a:cs typeface="Open Sauce Bold"/>
                <a:sym typeface="Open Sauce Bold"/>
              </a:rPr>
              <a:t>DATA WAS STANDARDIZED USING STANDARDSCALER BEFORE CLUSTERING.</a:t>
            </a:r>
          </a:p>
          <a:p>
            <a:pPr algn="l">
              <a:lnSpc>
                <a:spcPts val="2885"/>
              </a:lnSpc>
            </a:pPr>
            <a:r>
              <a:rPr lang="en-US" b="true" sz="2647" spc="-31">
                <a:solidFill>
                  <a:srgbClr val="FFFFFF"/>
                </a:solidFill>
                <a:latin typeface="Open Sauce Bold"/>
                <a:ea typeface="Open Sauce Bold"/>
                <a:cs typeface="Open Sauce Bold"/>
                <a:sym typeface="Open Sauce Bold"/>
              </a:rPr>
              <a:t>THE AIR QUALITY LABEL WAS REMOVED SINCE CLUSTERING IS UNSUPERVISED.</a:t>
            </a:r>
          </a:p>
          <a:p>
            <a:pPr algn="l">
              <a:lnSpc>
                <a:spcPts val="3046"/>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802535" y="173197"/>
            <a:ext cx="348401" cy="348401"/>
          </a:xfrm>
          <a:custGeom>
            <a:avLst/>
            <a:gdLst/>
            <a:ahLst/>
            <a:cxnLst/>
            <a:rect r="r" b="b" t="t" l="l"/>
            <a:pathLst>
              <a:path h="348401" w="348401">
                <a:moveTo>
                  <a:pt x="0" y="0"/>
                </a:moveTo>
                <a:lnTo>
                  <a:pt x="348402" y="0"/>
                </a:lnTo>
                <a:lnTo>
                  <a:pt x="348402" y="348402"/>
                </a:lnTo>
                <a:lnTo>
                  <a:pt x="0" y="348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33846" y="730567"/>
            <a:ext cx="16230600" cy="0"/>
          </a:xfrm>
          <a:prstGeom prst="line">
            <a:avLst/>
          </a:prstGeom>
          <a:ln cap="flat" w="9525">
            <a:solidFill>
              <a:srgbClr val="5CE6E2">
                <a:alpha val="49804"/>
              </a:srgbClr>
            </a:solidFill>
            <a:prstDash val="solid"/>
            <a:headEnd type="none" len="sm" w="sm"/>
            <a:tailEnd type="none" len="sm" w="sm"/>
          </a:ln>
        </p:spPr>
      </p:sp>
      <p:sp>
        <p:nvSpPr>
          <p:cNvPr name="Freeform 4" id="4"/>
          <p:cNvSpPr/>
          <p:nvPr/>
        </p:nvSpPr>
        <p:spPr>
          <a:xfrm flipH="false" flipV="false" rot="0">
            <a:off x="12208153" y="8871934"/>
            <a:ext cx="386366" cy="386366"/>
          </a:xfrm>
          <a:custGeom>
            <a:avLst/>
            <a:gdLst/>
            <a:ahLst/>
            <a:cxnLst/>
            <a:rect r="r" b="b" t="t" l="l"/>
            <a:pathLst>
              <a:path h="386366" w="386366">
                <a:moveTo>
                  <a:pt x="0" y="0"/>
                </a:moveTo>
                <a:lnTo>
                  <a:pt x="386366" y="0"/>
                </a:lnTo>
                <a:lnTo>
                  <a:pt x="386366" y="386366"/>
                </a:lnTo>
                <a:lnTo>
                  <a:pt x="0" y="3863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5" id="5"/>
          <p:cNvGraphicFramePr>
            <a:graphicFrameLocks noGrp="true"/>
          </p:cNvGraphicFramePr>
          <p:nvPr/>
        </p:nvGraphicFramePr>
        <p:xfrm>
          <a:off x="2058998" y="3184184"/>
          <a:ext cx="7582233" cy="3918632"/>
        </p:xfrm>
        <a:graphic>
          <a:graphicData uri="http://schemas.openxmlformats.org/drawingml/2006/table">
            <a:tbl>
              <a:tblPr/>
              <a:tblGrid>
                <a:gridCol w="2052845"/>
                <a:gridCol w="3051877"/>
                <a:gridCol w="2477511"/>
              </a:tblGrid>
              <a:tr h="928354">
                <a:tc>
                  <a:txBody>
                    <a:bodyPr anchor="t" rtlCol="false"/>
                    <a:lstStyle/>
                    <a:p>
                      <a:pPr algn="ctr">
                        <a:lnSpc>
                          <a:spcPts val="2799"/>
                        </a:lnSpc>
                        <a:defRPr/>
                      </a:pPr>
                      <a:r>
                        <a:rPr lang="en-US" sz="1999" b="true">
                          <a:solidFill>
                            <a:srgbClr val="000000"/>
                          </a:solidFill>
                          <a:latin typeface="Open Sauce Bold"/>
                          <a:ea typeface="Open Sauce Bold"/>
                          <a:cs typeface="Open Sauce Bold"/>
                          <a:sym typeface="Open Sauce Bold"/>
                        </a:rPr>
                        <a:t>K</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c>
                  <a:txBody>
                    <a:bodyPr anchor="t" rtlCol="false"/>
                    <a:lstStyle/>
                    <a:p>
                      <a:pPr algn="ctr">
                        <a:lnSpc>
                          <a:spcPts val="2239"/>
                        </a:lnSpc>
                        <a:defRPr/>
                      </a:pPr>
                      <a:r>
                        <a:rPr lang="en-US" sz="1599" b="true">
                          <a:solidFill>
                            <a:srgbClr val="000000"/>
                          </a:solidFill>
                          <a:latin typeface="Open Sauce Bold"/>
                          <a:ea typeface="Open Sauce Bold"/>
                          <a:cs typeface="Open Sauce Bold"/>
                          <a:sym typeface="Open Sauce Bold"/>
                        </a:rPr>
                        <a:t>WSS</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c>
                  <a:txBody>
                    <a:bodyPr anchor="t" rtlCol="false"/>
                    <a:lstStyle/>
                    <a:p>
                      <a:pPr algn="ctr">
                        <a:lnSpc>
                          <a:spcPts val="2659"/>
                        </a:lnSpc>
                        <a:defRPr/>
                      </a:pPr>
                      <a:r>
                        <a:rPr lang="en-US" sz="1899" b="true">
                          <a:solidFill>
                            <a:srgbClr val="000000"/>
                          </a:solidFill>
                          <a:latin typeface="Open Sauce Bold"/>
                          <a:ea typeface="Open Sauce Bold"/>
                          <a:cs typeface="Open Sauce Bold"/>
                          <a:sym typeface="Open Sauce Bold"/>
                        </a:rPr>
                        <a:t>Silhouette</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r>
              <a:tr h="947863">
                <a:tc>
                  <a:txBody>
                    <a:bodyPr anchor="t" rtlCol="false"/>
                    <a:lstStyle/>
                    <a:p>
                      <a:pPr algn="ctr">
                        <a:lnSpc>
                          <a:spcPts val="3219"/>
                        </a:lnSpc>
                        <a:defRPr/>
                      </a:pPr>
                      <a:r>
                        <a:rPr lang="en-US" sz="2299" b="true">
                          <a:solidFill>
                            <a:srgbClr val="000000"/>
                          </a:solidFill>
                          <a:latin typeface="Open Sauce Bold"/>
                          <a:ea typeface="Open Sauce Bold"/>
                          <a:cs typeface="Open Sauce Bold"/>
                          <a:sym typeface="Open Sauce Bold"/>
                        </a:rPr>
                        <a:t>2</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c>
                  <a:txBody>
                    <a:bodyPr anchor="t" rtlCol="false"/>
                    <a:lstStyle/>
                    <a:p>
                      <a:pPr algn="ctr">
                        <a:lnSpc>
                          <a:spcPts val="2519"/>
                        </a:lnSpc>
                        <a:defRPr/>
                      </a:pPr>
                      <a:r>
                        <a:rPr lang="en-US" sz="1799" b="true">
                          <a:solidFill>
                            <a:srgbClr val="000000"/>
                          </a:solidFill>
                          <a:latin typeface="Open Sauce Bold"/>
                          <a:ea typeface="Open Sauce Bold"/>
                          <a:cs typeface="Open Sauce Bold"/>
                          <a:sym typeface="Open Sauce Bold"/>
                        </a:rPr>
                        <a:t>30967.25</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c>
                  <a:txBody>
                    <a:bodyPr anchor="t" rtlCol="false"/>
                    <a:lstStyle/>
                    <a:p>
                      <a:pPr algn="ctr">
                        <a:lnSpc>
                          <a:spcPts val="2379"/>
                        </a:lnSpc>
                        <a:defRPr/>
                      </a:pPr>
                      <a:r>
                        <a:rPr lang="en-US" sz="1699" b="true">
                          <a:solidFill>
                            <a:srgbClr val="000000"/>
                          </a:solidFill>
                          <a:latin typeface="Open Sauce Bold"/>
                          <a:ea typeface="Open Sauce Bold"/>
                          <a:cs typeface="Open Sauce Bold"/>
                          <a:sym typeface="Open Sauce Bold"/>
                        </a:rPr>
                        <a:t>0.39</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r>
              <a:tr h="1084010">
                <a:tc>
                  <a:txBody>
                    <a:bodyPr anchor="t" rtlCol="false"/>
                    <a:lstStyle/>
                    <a:p>
                      <a:pPr algn="ctr">
                        <a:lnSpc>
                          <a:spcPts val="3219"/>
                        </a:lnSpc>
                        <a:defRPr/>
                      </a:pPr>
                      <a:r>
                        <a:rPr lang="en-US" sz="2299" b="true">
                          <a:solidFill>
                            <a:srgbClr val="000000"/>
                          </a:solidFill>
                          <a:latin typeface="Open Sauce Bold"/>
                          <a:ea typeface="Open Sauce Bold"/>
                          <a:cs typeface="Open Sauce Bold"/>
                          <a:sym typeface="Open Sauce Bold"/>
                        </a:rPr>
                        <a:t>3</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c>
                  <a:txBody>
                    <a:bodyPr anchor="t" rtlCol="false"/>
                    <a:lstStyle/>
                    <a:p>
                      <a:pPr algn="ctr">
                        <a:lnSpc>
                          <a:spcPts val="2519"/>
                        </a:lnSpc>
                        <a:defRPr/>
                      </a:pPr>
                      <a:r>
                        <a:rPr lang="en-US" sz="1799" b="true">
                          <a:solidFill>
                            <a:srgbClr val="000000"/>
                          </a:solidFill>
                          <a:latin typeface="Open Sauce Bold"/>
                          <a:ea typeface="Open Sauce Bold"/>
                          <a:cs typeface="Open Sauce Bold"/>
                          <a:sym typeface="Open Sauce Bold"/>
                        </a:rPr>
                        <a:t>22734.42</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c>
                  <a:txBody>
                    <a:bodyPr anchor="t" rtlCol="false"/>
                    <a:lstStyle/>
                    <a:p>
                      <a:pPr algn="ctr">
                        <a:lnSpc>
                          <a:spcPts val="2239"/>
                        </a:lnSpc>
                        <a:defRPr/>
                      </a:pPr>
                      <a:r>
                        <a:rPr lang="en-US" sz="1599" b="true">
                          <a:solidFill>
                            <a:srgbClr val="000000"/>
                          </a:solidFill>
                          <a:latin typeface="Open Sauce Bold"/>
                          <a:ea typeface="Open Sauce Bold"/>
                          <a:cs typeface="Open Sauce Bold"/>
                          <a:sym typeface="Open Sauce Bold"/>
                        </a:rPr>
                        <a:t>0.41 (best)</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r>
              <a:tr h="958405">
                <a:tc>
                  <a:txBody>
                    <a:bodyPr anchor="t" rtlCol="false"/>
                    <a:lstStyle/>
                    <a:p>
                      <a:pPr algn="ctr">
                        <a:lnSpc>
                          <a:spcPts val="3219"/>
                        </a:lnSpc>
                        <a:defRPr/>
                      </a:pPr>
                      <a:r>
                        <a:rPr lang="en-US" sz="2299" b="true">
                          <a:solidFill>
                            <a:srgbClr val="000000"/>
                          </a:solidFill>
                          <a:latin typeface="Open Sauce Bold"/>
                          <a:ea typeface="Open Sauce Bold"/>
                          <a:cs typeface="Open Sauce Bold"/>
                          <a:sym typeface="Open Sauce Bold"/>
                        </a:rPr>
                        <a:t>4</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c>
                  <a:txBody>
                    <a:bodyPr anchor="t" rtlCol="false"/>
                    <a:lstStyle/>
                    <a:p>
                      <a:pPr algn="ctr">
                        <a:lnSpc>
                          <a:spcPts val="2519"/>
                        </a:lnSpc>
                        <a:defRPr/>
                      </a:pPr>
                      <a:r>
                        <a:rPr lang="en-US" sz="1799" b="true">
                          <a:solidFill>
                            <a:srgbClr val="000000"/>
                          </a:solidFill>
                          <a:latin typeface="Open Sauce Bold"/>
                          <a:ea typeface="Open Sauce Bold"/>
                          <a:cs typeface="Open Sauce Bold"/>
                          <a:sym typeface="Open Sauce Bold"/>
                        </a:rPr>
                        <a:t>18871.12</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c>
                  <a:txBody>
                    <a:bodyPr anchor="t" rtlCol="false"/>
                    <a:lstStyle/>
                    <a:p>
                      <a:pPr algn="ctr">
                        <a:lnSpc>
                          <a:spcPts val="2239"/>
                        </a:lnSpc>
                        <a:defRPr/>
                      </a:pPr>
                      <a:r>
                        <a:rPr lang="en-US" sz="1599" b="true">
                          <a:solidFill>
                            <a:srgbClr val="000000"/>
                          </a:solidFill>
                          <a:latin typeface="Open Sauce Bold"/>
                          <a:ea typeface="Open Sauce Bold"/>
                          <a:cs typeface="Open Sauce Bold"/>
                          <a:sym typeface="Open Sauce Bold"/>
                        </a:rPr>
                        <a:t>0.32</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gradFill rotWithShape="true">
                      <a:gsLst>
                        <a:gs pos="0">
                          <a:srgbClr val="CDFFD8">
                            <a:alpha val="100000"/>
                          </a:srgbClr>
                        </a:gs>
                        <a:gs pos="100000">
                          <a:srgbClr val="94B9FF">
                            <a:alpha val="100000"/>
                          </a:srgbClr>
                        </a:gs>
                      </a:gsLst>
                      <a:lin ang="0"/>
                    </a:gradFill>
                  </a:tcPr>
                </a:tc>
              </a:tr>
            </a:tbl>
          </a:graphicData>
        </a:graphic>
      </p:graphicFrame>
      <p:sp>
        <p:nvSpPr>
          <p:cNvPr name="Freeform 6" id="6"/>
          <p:cNvSpPr/>
          <p:nvPr/>
        </p:nvSpPr>
        <p:spPr>
          <a:xfrm flipH="false" flipV="false" rot="0">
            <a:off x="13139326" y="173197"/>
            <a:ext cx="3519143" cy="2524749"/>
          </a:xfrm>
          <a:custGeom>
            <a:avLst/>
            <a:gdLst/>
            <a:ahLst/>
            <a:cxnLst/>
            <a:rect r="r" b="b" t="t" l="l"/>
            <a:pathLst>
              <a:path h="2524749" w="3519143">
                <a:moveTo>
                  <a:pt x="0" y="0"/>
                </a:moveTo>
                <a:lnTo>
                  <a:pt x="3519142" y="0"/>
                </a:lnTo>
                <a:lnTo>
                  <a:pt x="3519142" y="2524749"/>
                </a:lnTo>
                <a:lnTo>
                  <a:pt x="0" y="2524749"/>
                </a:lnTo>
                <a:lnTo>
                  <a:pt x="0" y="0"/>
                </a:lnTo>
                <a:close/>
              </a:path>
            </a:pathLst>
          </a:custGeom>
          <a:blipFill>
            <a:blip r:embed="rId6"/>
            <a:stretch>
              <a:fillRect l="0" t="0" r="0" b="0"/>
            </a:stretch>
          </a:blipFill>
        </p:spPr>
      </p:sp>
      <p:sp>
        <p:nvSpPr>
          <p:cNvPr name="Freeform 7" id="7"/>
          <p:cNvSpPr/>
          <p:nvPr/>
        </p:nvSpPr>
        <p:spPr>
          <a:xfrm flipH="false" flipV="false" rot="0">
            <a:off x="13139326" y="2684008"/>
            <a:ext cx="3452212" cy="4918984"/>
          </a:xfrm>
          <a:custGeom>
            <a:avLst/>
            <a:gdLst/>
            <a:ahLst/>
            <a:cxnLst/>
            <a:rect r="r" b="b" t="t" l="l"/>
            <a:pathLst>
              <a:path h="4918984" w="3452212">
                <a:moveTo>
                  <a:pt x="0" y="0"/>
                </a:moveTo>
                <a:lnTo>
                  <a:pt x="3452211" y="0"/>
                </a:lnTo>
                <a:lnTo>
                  <a:pt x="3452211" y="4918984"/>
                </a:lnTo>
                <a:lnTo>
                  <a:pt x="0" y="4918984"/>
                </a:lnTo>
                <a:lnTo>
                  <a:pt x="0" y="0"/>
                </a:lnTo>
                <a:close/>
              </a:path>
            </a:pathLst>
          </a:custGeom>
          <a:blipFill>
            <a:blip r:embed="rId7"/>
            <a:stretch>
              <a:fillRect l="0" t="0" r="-5121" b="0"/>
            </a:stretch>
          </a:blipFill>
        </p:spPr>
      </p:sp>
      <p:sp>
        <p:nvSpPr>
          <p:cNvPr name="Freeform 8" id="8"/>
          <p:cNvSpPr/>
          <p:nvPr/>
        </p:nvSpPr>
        <p:spPr>
          <a:xfrm flipH="false" flipV="false" rot="0">
            <a:off x="13139326" y="7602992"/>
            <a:ext cx="3569273" cy="2446200"/>
          </a:xfrm>
          <a:custGeom>
            <a:avLst/>
            <a:gdLst/>
            <a:ahLst/>
            <a:cxnLst/>
            <a:rect r="r" b="b" t="t" l="l"/>
            <a:pathLst>
              <a:path h="2446200" w="3569273">
                <a:moveTo>
                  <a:pt x="0" y="0"/>
                </a:moveTo>
                <a:lnTo>
                  <a:pt x="3569272" y="0"/>
                </a:lnTo>
                <a:lnTo>
                  <a:pt x="3569272" y="2446200"/>
                </a:lnTo>
                <a:lnTo>
                  <a:pt x="0" y="2446200"/>
                </a:lnTo>
                <a:lnTo>
                  <a:pt x="0" y="0"/>
                </a:lnTo>
                <a:close/>
              </a:path>
            </a:pathLst>
          </a:custGeom>
          <a:blipFill>
            <a:blip r:embed="rId8"/>
            <a:stretch>
              <a:fillRect l="-4681" t="0" r="-11973" b="0"/>
            </a:stretch>
          </a:blipFill>
        </p:spPr>
      </p:sp>
      <p:sp>
        <p:nvSpPr>
          <p:cNvPr name="TextBox 9" id="9"/>
          <p:cNvSpPr txBox="true"/>
          <p:nvPr/>
        </p:nvSpPr>
        <p:spPr>
          <a:xfrm rot="0">
            <a:off x="1792464" y="646666"/>
            <a:ext cx="8115300" cy="2022961"/>
          </a:xfrm>
          <a:prstGeom prst="rect">
            <a:avLst/>
          </a:prstGeom>
        </p:spPr>
        <p:txBody>
          <a:bodyPr anchor="t" rtlCol="false" tIns="0" lIns="0" bIns="0" rIns="0">
            <a:spAutoFit/>
          </a:bodyPr>
          <a:lstStyle/>
          <a:p>
            <a:pPr algn="l">
              <a:lnSpc>
                <a:spcPts val="5089"/>
              </a:lnSpc>
            </a:pPr>
          </a:p>
          <a:p>
            <a:pPr algn="l">
              <a:lnSpc>
                <a:spcPts val="5089"/>
              </a:lnSpc>
            </a:pPr>
            <a:r>
              <a:rPr lang="en-US" sz="6524" spc="-541" b="true">
                <a:solidFill>
                  <a:srgbClr val="5CE6E2"/>
                </a:solidFill>
                <a:latin typeface="Bricolage Grotesque Medium"/>
                <a:ea typeface="Bricolage Grotesque Medium"/>
                <a:cs typeface="Bricolage Grotesque Medium"/>
                <a:sym typeface="Bricolage Grotesque Medium"/>
              </a:rPr>
              <a:t>Cluster</a:t>
            </a:r>
            <a:r>
              <a:rPr lang="en-US" b="true" sz="6524" spc="-541">
                <a:solidFill>
                  <a:srgbClr val="5CE6E2"/>
                </a:solidFill>
                <a:latin typeface="Bricolage Grotesque Medium"/>
                <a:ea typeface="Bricolage Grotesque Medium"/>
                <a:cs typeface="Bricolage Grotesque Medium"/>
                <a:sym typeface="Bricolage Grotesque Medium"/>
              </a:rPr>
              <a:t>ING RESULTS</a:t>
            </a:r>
          </a:p>
          <a:p>
            <a:pPr algn="l">
              <a:lnSpc>
                <a:spcPts val="5089"/>
              </a:lnSpc>
            </a:pPr>
          </a:p>
        </p:txBody>
      </p:sp>
      <p:sp>
        <p:nvSpPr>
          <p:cNvPr name="TextBox 10" id="10"/>
          <p:cNvSpPr txBox="true"/>
          <p:nvPr/>
        </p:nvSpPr>
        <p:spPr>
          <a:xfrm rot="0">
            <a:off x="1033846" y="2419040"/>
            <a:ext cx="10090472" cy="577375"/>
          </a:xfrm>
          <a:prstGeom prst="rect">
            <a:avLst/>
          </a:prstGeom>
        </p:spPr>
        <p:txBody>
          <a:bodyPr anchor="t" rtlCol="false" tIns="0" lIns="0" bIns="0" rIns="0">
            <a:spAutoFit/>
          </a:bodyPr>
          <a:lstStyle/>
          <a:p>
            <a:pPr algn="l">
              <a:lnSpc>
                <a:spcPts val="1936"/>
              </a:lnSpc>
            </a:pPr>
            <a:r>
              <a:rPr lang="en-US" b="true" sz="2225" spc="-26">
                <a:solidFill>
                  <a:srgbClr val="FFFFFF"/>
                </a:solidFill>
                <a:latin typeface="Open Sauce Bold"/>
                <a:ea typeface="Open Sauce Bold"/>
                <a:cs typeface="Open Sauce Bold"/>
                <a:sym typeface="Open Sauce Bold"/>
              </a:rPr>
              <a:t>COMPARISON OF K VALUES BASED ON WCSS AND SILHOUETTE SCORE:</a:t>
            </a:r>
          </a:p>
          <a:p>
            <a:pPr algn="l">
              <a:lnSpc>
                <a:spcPts val="2489"/>
              </a:lnSpc>
            </a:pPr>
          </a:p>
        </p:txBody>
      </p:sp>
      <p:sp>
        <p:nvSpPr>
          <p:cNvPr name="TextBox 11" id="11"/>
          <p:cNvSpPr txBox="true"/>
          <p:nvPr/>
        </p:nvSpPr>
        <p:spPr>
          <a:xfrm rot="0">
            <a:off x="1367341" y="8166547"/>
            <a:ext cx="10090472" cy="946893"/>
          </a:xfrm>
          <a:prstGeom prst="rect">
            <a:avLst/>
          </a:prstGeom>
        </p:spPr>
        <p:txBody>
          <a:bodyPr anchor="t" rtlCol="false" tIns="0" lIns="0" bIns="0" rIns="0">
            <a:spAutoFit/>
          </a:bodyPr>
          <a:lstStyle/>
          <a:p>
            <a:pPr algn="ctr">
              <a:lnSpc>
                <a:spcPts val="2535"/>
              </a:lnSpc>
            </a:pPr>
            <a:r>
              <a:rPr lang="en-US" b="true" sz="2325" spc="297">
                <a:solidFill>
                  <a:srgbClr val="FFFFFF"/>
                </a:solidFill>
                <a:latin typeface="Open Sauce Bold"/>
                <a:ea typeface="Open Sauce Bold"/>
                <a:cs typeface="Open Sauce Bold"/>
                <a:sym typeface="Open Sauce Bold"/>
              </a:rPr>
              <a:t>INTERPRETATION:</a:t>
            </a:r>
          </a:p>
          <a:p>
            <a:pPr algn="ctr">
              <a:lnSpc>
                <a:spcPts val="2535"/>
              </a:lnSpc>
            </a:pPr>
            <a:r>
              <a:rPr lang="en-US" b="true" sz="2325" spc="297">
                <a:solidFill>
                  <a:srgbClr val="FFFFFF"/>
                </a:solidFill>
                <a:latin typeface="Open Sauce Bold"/>
                <a:ea typeface="Open Sauce Bold"/>
                <a:cs typeface="Open Sauce Bold"/>
                <a:sym typeface="Open Sauce Bold"/>
              </a:rPr>
              <a:t>EACH CLUSTER GROUPS SIMILAR CITIES BASED ON POLLUTANT LEVELS AND ENVIRONMENTAL FACTORS.</a:t>
            </a:r>
          </a:p>
        </p:txBody>
      </p:sp>
      <p:sp>
        <p:nvSpPr>
          <p:cNvPr name="TextBox 12" id="12"/>
          <p:cNvSpPr txBox="true"/>
          <p:nvPr/>
        </p:nvSpPr>
        <p:spPr>
          <a:xfrm rot="0">
            <a:off x="2058998" y="7333898"/>
            <a:ext cx="1725770" cy="294617"/>
          </a:xfrm>
          <a:prstGeom prst="rect">
            <a:avLst/>
          </a:prstGeom>
        </p:spPr>
        <p:txBody>
          <a:bodyPr anchor="t" rtlCol="false" tIns="0" lIns="0" bIns="0" rIns="0">
            <a:spAutoFit/>
          </a:bodyPr>
          <a:lstStyle/>
          <a:p>
            <a:pPr algn="l">
              <a:lnSpc>
                <a:spcPts val="2053"/>
              </a:lnSpc>
            </a:pPr>
            <a:r>
              <a:rPr lang="en-US" sz="2632" spc="-218">
                <a:solidFill>
                  <a:srgbClr val="5CE6E2"/>
                </a:solidFill>
                <a:latin typeface="Bricolage Grotesque"/>
                <a:ea typeface="Bricolage Grotesque"/>
                <a:cs typeface="Bricolage Grotesque"/>
                <a:sym typeface="Bricolage Grotesque"/>
              </a:rPr>
              <a:t>BEST K  :  3</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TextBox 4" id="4"/>
          <p:cNvSpPr txBox="true"/>
          <p:nvPr/>
        </p:nvSpPr>
        <p:spPr>
          <a:xfrm rot="0">
            <a:off x="1145303" y="1238250"/>
            <a:ext cx="8917374" cy="2158987"/>
          </a:xfrm>
          <a:prstGeom prst="rect">
            <a:avLst/>
          </a:prstGeom>
        </p:spPr>
        <p:txBody>
          <a:bodyPr anchor="t" rtlCol="false" tIns="0" lIns="0" bIns="0" rIns="0">
            <a:spAutoFit/>
          </a:bodyPr>
          <a:lstStyle/>
          <a:p>
            <a:pPr algn="l">
              <a:lnSpc>
                <a:spcPts val="4151"/>
              </a:lnSpc>
            </a:pPr>
          </a:p>
          <a:p>
            <a:pPr algn="l">
              <a:lnSpc>
                <a:spcPts val="4151"/>
              </a:lnSpc>
            </a:pPr>
            <a:r>
              <a:rPr lang="en-US" b="true" sz="5321" spc="-441">
                <a:solidFill>
                  <a:srgbClr val="5CE6E2"/>
                </a:solidFill>
                <a:latin typeface="Bricolage Grotesque Bold"/>
                <a:ea typeface="Bricolage Grotesque Bold"/>
                <a:cs typeface="Bricolage Grotesque Bold"/>
                <a:sym typeface="Bricolage Grotesque Bold"/>
              </a:rPr>
              <a:t>FIND</a:t>
            </a:r>
            <a:r>
              <a:rPr lang="en-US" b="true" sz="5321" spc="-441">
                <a:solidFill>
                  <a:srgbClr val="5CE6E2"/>
                </a:solidFill>
                <a:latin typeface="Bricolage Grotesque Bold"/>
                <a:ea typeface="Bricolage Grotesque Bold"/>
                <a:cs typeface="Bricolage Grotesque Bold"/>
                <a:sym typeface="Bricolage Grotesque Bold"/>
              </a:rPr>
              <a:t>ING</a:t>
            </a:r>
            <a:r>
              <a:rPr lang="en-US" b="true" sz="5321" spc="-441">
                <a:solidFill>
                  <a:srgbClr val="5CE6E2"/>
                </a:solidFill>
                <a:latin typeface="Bricolage Grotesque Bold"/>
                <a:ea typeface="Bricolage Grotesque Bold"/>
                <a:cs typeface="Bricolage Grotesque Bold"/>
                <a:sym typeface="Bricolage Grotesque Bold"/>
              </a:rPr>
              <a:t>S</a:t>
            </a:r>
            <a:r>
              <a:rPr lang="en-US" b="true" sz="5321" spc="-441">
                <a:solidFill>
                  <a:srgbClr val="5CE6E2"/>
                </a:solidFill>
                <a:latin typeface="Bricolage Grotesque Bold"/>
                <a:ea typeface="Bricolage Grotesque Bold"/>
                <a:cs typeface="Bricolage Grotesque Bold"/>
                <a:sym typeface="Bricolage Grotesque Bold"/>
              </a:rPr>
              <a:t> </a:t>
            </a:r>
            <a:r>
              <a:rPr lang="en-US" b="true" sz="5321" spc="-441">
                <a:solidFill>
                  <a:srgbClr val="5CE6E2"/>
                </a:solidFill>
                <a:latin typeface="Bricolage Grotesque Bold"/>
                <a:ea typeface="Bricolage Grotesque Bold"/>
                <a:cs typeface="Bricolage Grotesque Bold"/>
                <a:sym typeface="Bricolage Grotesque Bold"/>
              </a:rPr>
              <a:t>&amp; DISCUSSI</a:t>
            </a:r>
            <a:r>
              <a:rPr lang="en-US" b="true" sz="5321" spc="-441">
                <a:solidFill>
                  <a:srgbClr val="5CE6E2"/>
                </a:solidFill>
                <a:latin typeface="Bricolage Grotesque Bold"/>
                <a:ea typeface="Bricolage Grotesque Bold"/>
                <a:cs typeface="Bricolage Grotesque Bold"/>
                <a:sym typeface="Bricolage Grotesque Bold"/>
              </a:rPr>
              <a:t>O</a:t>
            </a:r>
            <a:r>
              <a:rPr lang="en-US" b="true" sz="5321" spc="-441">
                <a:solidFill>
                  <a:srgbClr val="5CE6E2"/>
                </a:solidFill>
                <a:latin typeface="Bricolage Grotesque Bold"/>
                <a:ea typeface="Bricolage Grotesque Bold"/>
                <a:cs typeface="Bricolage Grotesque Bold"/>
                <a:sym typeface="Bricolage Grotesque Bold"/>
              </a:rPr>
              <a:t>N</a:t>
            </a:r>
          </a:p>
          <a:p>
            <a:pPr algn="l">
              <a:lnSpc>
                <a:spcPts val="4151"/>
              </a:lnSpc>
            </a:pPr>
          </a:p>
          <a:p>
            <a:pPr algn="l">
              <a:lnSpc>
                <a:spcPts val="4044"/>
              </a:lnSpc>
            </a:pPr>
          </a:p>
        </p:txBody>
      </p:sp>
      <p:sp>
        <p:nvSpPr>
          <p:cNvPr name="TextBox 5" id="5"/>
          <p:cNvSpPr txBox="true"/>
          <p:nvPr/>
        </p:nvSpPr>
        <p:spPr>
          <a:xfrm rot="0">
            <a:off x="1006105" y="2800298"/>
            <a:ext cx="17281895" cy="6715637"/>
          </a:xfrm>
          <a:prstGeom prst="rect">
            <a:avLst/>
          </a:prstGeom>
        </p:spPr>
        <p:txBody>
          <a:bodyPr anchor="t" rtlCol="false" tIns="0" lIns="0" bIns="0" rIns="0">
            <a:spAutoFit/>
          </a:bodyPr>
          <a:lstStyle/>
          <a:p>
            <a:pPr algn="l">
              <a:lnSpc>
                <a:spcPts val="2642"/>
              </a:lnSpc>
            </a:pPr>
            <a:r>
              <a:rPr lang="en-US" b="true" sz="2424" spc="-29">
                <a:solidFill>
                  <a:srgbClr val="FFFFFF"/>
                </a:solidFill>
                <a:latin typeface="Open Sauce Bold"/>
                <a:ea typeface="Open Sauce Bold"/>
                <a:cs typeface="Open Sauce Bold"/>
                <a:sym typeface="Open Sauce Bold"/>
              </a:rPr>
              <a:t>BEST CLASSIFICATION MODEL:</a:t>
            </a:r>
          </a:p>
          <a:p>
            <a:pPr algn="l" marL="523496" indent="-261748" lvl="1">
              <a:lnSpc>
                <a:spcPts val="2642"/>
              </a:lnSpc>
              <a:buFont typeface="Arial"/>
              <a:buChar char="•"/>
            </a:pPr>
            <a:r>
              <a:rPr lang="en-US" b="true" sz="2424" spc="-29">
                <a:solidFill>
                  <a:srgbClr val="FFFFFF"/>
                </a:solidFill>
                <a:latin typeface="Open Sauce Bold"/>
                <a:ea typeface="Open Sauce Bold"/>
                <a:cs typeface="Open Sauce Bold"/>
                <a:sym typeface="Open Sauce Bold"/>
              </a:rPr>
              <a:t>D</a:t>
            </a:r>
            <a:r>
              <a:rPr lang="en-US" b="true" sz="2424" spc="-29">
                <a:solidFill>
                  <a:srgbClr val="FFFFFF"/>
                </a:solidFill>
                <a:latin typeface="Open Sauce Bold"/>
                <a:ea typeface="Open Sauce Bold"/>
                <a:cs typeface="Open Sauce Bold"/>
                <a:sym typeface="Open Sauce Bold"/>
              </a:rPr>
              <a:t>ecision Tree (Gini – 90/10 split)</a:t>
            </a:r>
          </a:p>
          <a:p>
            <a:pPr algn="l">
              <a:lnSpc>
                <a:spcPts val="2642"/>
              </a:lnSpc>
            </a:pPr>
          </a:p>
          <a:p>
            <a:pPr algn="l">
              <a:lnSpc>
                <a:spcPts val="2642"/>
              </a:lnSpc>
            </a:pPr>
          </a:p>
          <a:p>
            <a:pPr algn="l">
              <a:lnSpc>
                <a:spcPts val="2642"/>
              </a:lnSpc>
            </a:pPr>
            <a:r>
              <a:rPr lang="en-US" b="true" sz="2424" spc="-29">
                <a:solidFill>
                  <a:srgbClr val="FFFFFF"/>
                </a:solidFill>
                <a:latin typeface="Open Sauce Bold"/>
                <a:ea typeface="Open Sauce Bold"/>
                <a:cs typeface="Open Sauce Bold"/>
                <a:sym typeface="Open Sauce Bold"/>
              </a:rPr>
              <a:t>MO</a:t>
            </a:r>
            <a:r>
              <a:rPr lang="en-US" sz="2424" spc="-29" b="true">
                <a:solidFill>
                  <a:srgbClr val="FFFFFF"/>
                </a:solidFill>
                <a:latin typeface="Open Sauce Bold"/>
                <a:ea typeface="Open Sauce Bold"/>
                <a:cs typeface="Open Sauce Bold"/>
                <a:sym typeface="Open Sauce Bold"/>
              </a:rPr>
              <a:t>st influential features:</a:t>
            </a:r>
          </a:p>
          <a:p>
            <a:pPr algn="l">
              <a:lnSpc>
                <a:spcPts val="2642"/>
              </a:lnSpc>
            </a:pPr>
          </a:p>
          <a:p>
            <a:pPr algn="l" marL="523496" indent="-261748" lvl="1">
              <a:lnSpc>
                <a:spcPts val="2642"/>
              </a:lnSpc>
              <a:buFont typeface="Arial"/>
              <a:buChar char="•"/>
            </a:pPr>
            <a:r>
              <a:rPr lang="en-US" b="true" sz="2424" spc="-29">
                <a:solidFill>
                  <a:srgbClr val="FFFFFF"/>
                </a:solidFill>
                <a:latin typeface="Open Sauce Bold"/>
                <a:ea typeface="Open Sauce Bold"/>
                <a:cs typeface="Open Sauce Bold"/>
                <a:sym typeface="Open Sauce Bold"/>
              </a:rPr>
              <a:t>SO₂</a:t>
            </a:r>
          </a:p>
          <a:p>
            <a:pPr algn="l" marL="523496" indent="-261748" lvl="1">
              <a:lnSpc>
                <a:spcPts val="2642"/>
              </a:lnSpc>
              <a:buFont typeface="Arial"/>
              <a:buChar char="•"/>
            </a:pPr>
            <a:r>
              <a:rPr lang="en-US" b="true" sz="2424" spc="-29">
                <a:solidFill>
                  <a:srgbClr val="FFFFFF"/>
                </a:solidFill>
                <a:latin typeface="Open Sauce Bold"/>
                <a:ea typeface="Open Sauce Bold"/>
                <a:cs typeface="Open Sauce Bold"/>
                <a:sym typeface="Open Sauce Bold"/>
              </a:rPr>
              <a:t>NO₂</a:t>
            </a:r>
          </a:p>
          <a:p>
            <a:pPr algn="l" marL="523496" indent="-261748" lvl="1">
              <a:lnSpc>
                <a:spcPts val="2642"/>
              </a:lnSpc>
              <a:buFont typeface="Arial"/>
              <a:buChar char="•"/>
            </a:pPr>
            <a:r>
              <a:rPr lang="en-US" b="true" sz="2424" spc="-29">
                <a:solidFill>
                  <a:srgbClr val="FFFFFF"/>
                </a:solidFill>
                <a:latin typeface="Open Sauce Bold"/>
                <a:ea typeface="Open Sauce Bold"/>
                <a:cs typeface="Open Sauce Bold"/>
                <a:sym typeface="Open Sauce Bold"/>
              </a:rPr>
              <a:t>CO</a:t>
            </a:r>
          </a:p>
          <a:p>
            <a:pPr algn="l">
              <a:lnSpc>
                <a:spcPts val="2642"/>
              </a:lnSpc>
            </a:pPr>
          </a:p>
          <a:p>
            <a:pPr algn="l">
              <a:lnSpc>
                <a:spcPts val="2642"/>
              </a:lnSpc>
            </a:pPr>
          </a:p>
          <a:p>
            <a:pPr algn="l">
              <a:lnSpc>
                <a:spcPts val="2642"/>
              </a:lnSpc>
            </a:pPr>
            <a:r>
              <a:rPr lang="en-US" b="true" sz="2424" spc="-29">
                <a:solidFill>
                  <a:srgbClr val="FFFFFF"/>
                </a:solidFill>
                <a:latin typeface="Open Sauce Bold"/>
                <a:ea typeface="Open Sauce Bold"/>
                <a:cs typeface="Open Sauce Bold"/>
                <a:sym typeface="Open Sauce Bold"/>
              </a:rPr>
              <a:t>CLUSTERING INSIGHTS:</a:t>
            </a:r>
          </a:p>
          <a:p>
            <a:pPr algn="l">
              <a:lnSpc>
                <a:spcPts val="2642"/>
              </a:lnSpc>
            </a:pPr>
            <a:r>
              <a:rPr lang="en-US" b="true" sz="2424" spc="-29">
                <a:solidFill>
                  <a:srgbClr val="FFFFFF"/>
                </a:solidFill>
                <a:latin typeface="Open Sauce Bold"/>
                <a:ea typeface="Open Sauce Bold"/>
                <a:cs typeface="Open Sauce Bold"/>
                <a:sym typeface="Open Sauce Bold"/>
              </a:rPr>
              <a:t> DATA FORMED THREE MEANINGFUL GROUPS BASED ON POLLUTION LEVELS.</a:t>
            </a:r>
          </a:p>
          <a:p>
            <a:pPr algn="l" marL="523496" indent="-261748" lvl="1">
              <a:lnSpc>
                <a:spcPts val="2642"/>
              </a:lnSpc>
              <a:buFont typeface="Arial"/>
              <a:buChar char="•"/>
            </a:pPr>
            <a:r>
              <a:rPr lang="en-US" b="true" sz="2424" spc="-29">
                <a:solidFill>
                  <a:srgbClr val="FFFFFF"/>
                </a:solidFill>
                <a:latin typeface="Open Sauce Bold"/>
                <a:ea typeface="Open Sauce Bold"/>
                <a:cs typeface="Open Sauce Bold"/>
                <a:sym typeface="Open Sauce Bold"/>
              </a:rPr>
              <a:t>CLUSTER 0: LOW POLLUTION</a:t>
            </a:r>
          </a:p>
          <a:p>
            <a:pPr algn="l" marL="523496" indent="-261748" lvl="1">
              <a:lnSpc>
                <a:spcPts val="2642"/>
              </a:lnSpc>
              <a:buFont typeface="Arial"/>
              <a:buChar char="•"/>
            </a:pPr>
            <a:r>
              <a:rPr lang="en-US" b="true" sz="2424" spc="-29">
                <a:solidFill>
                  <a:srgbClr val="FFFFFF"/>
                </a:solidFill>
                <a:latin typeface="Open Sauce Bold"/>
                <a:ea typeface="Open Sauce Bold"/>
                <a:cs typeface="Open Sauce Bold"/>
                <a:sym typeface="Open Sauce Bold"/>
              </a:rPr>
              <a:t>CLUS</a:t>
            </a:r>
            <a:r>
              <a:rPr lang="en-US" b="true" sz="2424" spc="-29">
                <a:solidFill>
                  <a:srgbClr val="FFFFFF"/>
                </a:solidFill>
                <a:latin typeface="Open Sauce Bold"/>
                <a:ea typeface="Open Sauce Bold"/>
                <a:cs typeface="Open Sauce Bold"/>
                <a:sym typeface="Open Sauce Bold"/>
              </a:rPr>
              <a:t>TER 1: MODERATE POLLUTION</a:t>
            </a:r>
          </a:p>
          <a:p>
            <a:pPr algn="l" marL="523496" indent="-261748" lvl="1">
              <a:lnSpc>
                <a:spcPts val="2642"/>
              </a:lnSpc>
              <a:buFont typeface="Arial"/>
              <a:buChar char="•"/>
            </a:pPr>
            <a:r>
              <a:rPr lang="en-US" b="true" sz="2424" spc="-29">
                <a:solidFill>
                  <a:srgbClr val="FFFFFF"/>
                </a:solidFill>
                <a:latin typeface="Open Sauce Bold"/>
                <a:ea typeface="Open Sauce Bold"/>
                <a:cs typeface="Open Sauce Bold"/>
                <a:sym typeface="Open Sauce Bold"/>
              </a:rPr>
              <a:t>CLUSTER 2: HIGH POLLUTION (RISK AREAS)</a:t>
            </a:r>
          </a:p>
          <a:p>
            <a:pPr algn="l">
              <a:lnSpc>
                <a:spcPts val="2642"/>
              </a:lnSpc>
            </a:pPr>
          </a:p>
          <a:p>
            <a:pPr algn="l">
              <a:lnSpc>
                <a:spcPts val="2642"/>
              </a:lnSpc>
            </a:pPr>
          </a:p>
          <a:p>
            <a:pPr algn="l">
              <a:lnSpc>
                <a:spcPts val="2642"/>
              </a:lnSpc>
            </a:pPr>
            <a:r>
              <a:rPr lang="en-US" b="true" sz="2424" spc="-29">
                <a:solidFill>
                  <a:srgbClr val="FFFFFF"/>
                </a:solidFill>
                <a:latin typeface="Open Sauce Bold"/>
                <a:ea typeface="Open Sauce Bold"/>
                <a:cs typeface="Open Sauce Bold"/>
                <a:sym typeface="Open Sauce Bold"/>
              </a:rPr>
              <a:t>THE CLUSTERING RESULTS ALIGN WITH ENVIRONMENTAL EXPECTATIONS AND LITERATURE.</a:t>
            </a:r>
          </a:p>
          <a:p>
            <a:pPr algn="l">
              <a:lnSpc>
                <a:spcPts val="2789"/>
              </a:lnSpc>
            </a:pPr>
          </a:p>
        </p:txBody>
      </p:sp>
      <p:sp>
        <p:nvSpPr>
          <p:cNvPr name="Freeform 6" id="6"/>
          <p:cNvSpPr/>
          <p:nvPr/>
        </p:nvSpPr>
        <p:spPr>
          <a:xfrm flipH="false" flipV="false" rot="0">
            <a:off x="11571962" y="1658425"/>
            <a:ext cx="5610598" cy="4842591"/>
          </a:xfrm>
          <a:custGeom>
            <a:avLst/>
            <a:gdLst/>
            <a:ahLst/>
            <a:cxnLst/>
            <a:rect r="r" b="b" t="t" l="l"/>
            <a:pathLst>
              <a:path h="4842591" w="5610598">
                <a:moveTo>
                  <a:pt x="0" y="0"/>
                </a:moveTo>
                <a:lnTo>
                  <a:pt x="5610597" y="0"/>
                </a:lnTo>
                <a:lnTo>
                  <a:pt x="5610597" y="4842592"/>
                </a:lnTo>
                <a:lnTo>
                  <a:pt x="0" y="4842592"/>
                </a:lnTo>
                <a:lnTo>
                  <a:pt x="0" y="0"/>
                </a:lnTo>
                <a:close/>
              </a:path>
            </a:pathLst>
          </a:custGeom>
          <a:blipFill>
            <a:blip r:embed="rId4"/>
            <a:stretch>
              <a:fillRect l="-25492" t="-98163" r="-6178" b="-20239"/>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TextBox 4" id="4"/>
          <p:cNvSpPr txBox="true"/>
          <p:nvPr/>
        </p:nvSpPr>
        <p:spPr>
          <a:xfrm rot="0">
            <a:off x="7251984" y="1510788"/>
            <a:ext cx="4142587" cy="2158987"/>
          </a:xfrm>
          <a:prstGeom prst="rect">
            <a:avLst/>
          </a:prstGeom>
        </p:spPr>
        <p:txBody>
          <a:bodyPr anchor="t" rtlCol="false" tIns="0" lIns="0" bIns="0" rIns="0">
            <a:spAutoFit/>
          </a:bodyPr>
          <a:lstStyle/>
          <a:p>
            <a:pPr algn="l">
              <a:lnSpc>
                <a:spcPts val="4151"/>
              </a:lnSpc>
            </a:pPr>
          </a:p>
          <a:p>
            <a:pPr algn="l">
              <a:lnSpc>
                <a:spcPts val="4151"/>
              </a:lnSpc>
            </a:pPr>
            <a:r>
              <a:rPr lang="en-US" b="true" sz="5321" spc="-441">
                <a:solidFill>
                  <a:srgbClr val="5CE6E2"/>
                </a:solidFill>
                <a:latin typeface="Bricolage Grotesque Bold"/>
                <a:ea typeface="Bricolage Grotesque Bold"/>
                <a:cs typeface="Bricolage Grotesque Bold"/>
                <a:sym typeface="Bricolage Grotesque Bold"/>
              </a:rPr>
              <a:t>CONCLUSI</a:t>
            </a:r>
            <a:r>
              <a:rPr lang="en-US" b="true" sz="5321" spc="-441">
                <a:solidFill>
                  <a:srgbClr val="5CE6E2"/>
                </a:solidFill>
                <a:latin typeface="Bricolage Grotesque Bold"/>
                <a:ea typeface="Bricolage Grotesque Bold"/>
                <a:cs typeface="Bricolage Grotesque Bold"/>
                <a:sym typeface="Bricolage Grotesque Bold"/>
              </a:rPr>
              <a:t>O</a:t>
            </a:r>
            <a:r>
              <a:rPr lang="en-US" b="true" sz="5321" spc="-441">
                <a:solidFill>
                  <a:srgbClr val="5CE6E2"/>
                </a:solidFill>
                <a:latin typeface="Bricolage Grotesque Bold"/>
                <a:ea typeface="Bricolage Grotesque Bold"/>
                <a:cs typeface="Bricolage Grotesque Bold"/>
                <a:sym typeface="Bricolage Grotesque Bold"/>
              </a:rPr>
              <a:t>N</a:t>
            </a:r>
          </a:p>
          <a:p>
            <a:pPr algn="l">
              <a:lnSpc>
                <a:spcPts val="4151"/>
              </a:lnSpc>
            </a:pPr>
          </a:p>
          <a:p>
            <a:pPr algn="l">
              <a:lnSpc>
                <a:spcPts val="4044"/>
              </a:lnSpc>
            </a:pPr>
          </a:p>
        </p:txBody>
      </p:sp>
      <p:sp>
        <p:nvSpPr>
          <p:cNvPr name="TextBox 5" id="5"/>
          <p:cNvSpPr txBox="true"/>
          <p:nvPr/>
        </p:nvSpPr>
        <p:spPr>
          <a:xfrm rot="0">
            <a:off x="1753398" y="3209418"/>
            <a:ext cx="14781205" cy="4476315"/>
          </a:xfrm>
          <a:prstGeom prst="rect">
            <a:avLst/>
          </a:prstGeom>
        </p:spPr>
        <p:txBody>
          <a:bodyPr anchor="t" rtlCol="false" tIns="0" lIns="0" bIns="0" rIns="0">
            <a:spAutoFit/>
          </a:bodyPr>
          <a:lstStyle/>
          <a:p>
            <a:pPr algn="ctr">
              <a:lnSpc>
                <a:spcPts val="5128"/>
              </a:lnSpc>
            </a:pPr>
            <a:r>
              <a:rPr lang="en-US" b="true" sz="2787" spc="-33">
                <a:solidFill>
                  <a:srgbClr val="FFFFFF"/>
                </a:solidFill>
                <a:latin typeface="Open Sauce Bold"/>
                <a:ea typeface="Open Sauce Bold"/>
                <a:cs typeface="Open Sauce Bold"/>
                <a:sym typeface="Open Sauce Bold"/>
              </a:rPr>
              <a:t>“IN CONCLUSION, WE ANALYZED THE DATASET, CLEANED IT WITH PREPROCESSING, AND IMPROVED ITS QUALITY.THE DECISION TREE GAVE ACCURATE AIR-QUALITY PREDICTIONS, AND K-MEANS REVEALED THREE NATURAL POLLUTION GROUPS.</a:t>
            </a:r>
          </a:p>
          <a:p>
            <a:pPr algn="ctr">
              <a:lnSpc>
                <a:spcPts val="5128"/>
              </a:lnSpc>
            </a:pPr>
            <a:r>
              <a:rPr lang="en-US" b="true" sz="2787" spc="-33">
                <a:solidFill>
                  <a:srgbClr val="FFFFFF"/>
                </a:solidFill>
                <a:latin typeface="Open Sauce Bold"/>
                <a:ea typeface="Open Sauce Bold"/>
                <a:cs typeface="Open Sauce Bold"/>
                <a:sym typeface="Open Sauce Bold"/>
              </a:rPr>
              <a:t>BY COMBINING DATA ANALYSIS, PREPROCESSING, CLASSIFICATION, AND CLUSTERING, WE GAINED A CLEAR OVERALL UNDERSTANDING OF THE AIR-QUALITY PATTERNS.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31A25"/>
        </a:solidFill>
      </p:bgPr>
    </p:bg>
    <p:spTree>
      <p:nvGrpSpPr>
        <p:cNvPr id="1" name=""/>
        <p:cNvGrpSpPr/>
        <p:nvPr/>
      </p:nvGrpSpPr>
      <p:grpSpPr>
        <a:xfrm>
          <a:off x="0" y="0"/>
          <a:ext cx="0" cy="0"/>
          <a:chOff x="0" y="0"/>
          <a:chExt cx="0" cy="0"/>
        </a:xfrm>
      </p:grpSpPr>
      <p:sp>
        <p:nvSpPr>
          <p:cNvPr name="Freeform 2" id="2"/>
          <p:cNvSpPr/>
          <p:nvPr/>
        </p:nvSpPr>
        <p:spPr>
          <a:xfrm flipH="false" flipV="false" rot="0">
            <a:off x="16922761" y="604305"/>
            <a:ext cx="336539" cy="336539"/>
          </a:xfrm>
          <a:custGeom>
            <a:avLst/>
            <a:gdLst/>
            <a:ahLst/>
            <a:cxnLst/>
            <a:rect r="r" b="b" t="t" l="l"/>
            <a:pathLst>
              <a:path h="336539" w="336539">
                <a:moveTo>
                  <a:pt x="0" y="0"/>
                </a:moveTo>
                <a:lnTo>
                  <a:pt x="336539" y="0"/>
                </a:lnTo>
                <a:lnTo>
                  <a:pt x="336539" y="336539"/>
                </a:lnTo>
                <a:lnTo>
                  <a:pt x="0" y="3365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1028700" y="1301238"/>
            <a:ext cx="16230600" cy="0"/>
          </a:xfrm>
          <a:prstGeom prst="line">
            <a:avLst/>
          </a:prstGeom>
          <a:ln cap="flat" w="9525">
            <a:solidFill>
              <a:srgbClr val="5CE6E2">
                <a:alpha val="49804"/>
              </a:srgbClr>
            </a:solidFill>
            <a:prstDash val="solid"/>
            <a:headEnd type="none" len="sm" w="sm"/>
            <a:tailEnd type="none" len="sm" w="sm"/>
          </a:ln>
        </p:spPr>
      </p:sp>
      <p:sp>
        <p:nvSpPr>
          <p:cNvPr name="TextBox 4" id="4"/>
          <p:cNvSpPr txBox="true"/>
          <p:nvPr/>
        </p:nvSpPr>
        <p:spPr>
          <a:xfrm rot="0">
            <a:off x="4149002" y="4573576"/>
            <a:ext cx="9989996" cy="1768497"/>
          </a:xfrm>
          <a:prstGeom prst="rect">
            <a:avLst/>
          </a:prstGeom>
        </p:spPr>
        <p:txBody>
          <a:bodyPr anchor="t" rtlCol="false" tIns="0" lIns="0" bIns="0" rIns="0">
            <a:spAutoFit/>
          </a:bodyPr>
          <a:lstStyle/>
          <a:p>
            <a:pPr algn="l">
              <a:lnSpc>
                <a:spcPts val="12296"/>
              </a:lnSpc>
            </a:pPr>
            <a:r>
              <a:rPr lang="en-US" sz="15765" spc="-1308">
                <a:solidFill>
                  <a:srgbClr val="5CE6E2"/>
                </a:solidFill>
                <a:latin typeface="Bricolage Grotesque"/>
                <a:ea typeface="Bricolage Grotesque"/>
                <a:cs typeface="Bricolage Grotesque"/>
                <a:sym typeface="Bricolage Grotesqu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DAG5cufnC3c</dc:identifier>
  <dcterms:modified xsi:type="dcterms:W3CDTF">2011-08-01T06:04:30Z</dcterms:modified>
  <cp:revision>1</cp:revision>
  <dc:title>Preprocessing</dc:title>
</cp:coreProperties>
</file>